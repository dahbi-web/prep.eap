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7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4" r:id="rId28"/>
    <p:sldId id="285" r:id="rId29"/>
    <p:sldId id="286" r:id="rId30"/>
    <p:sldId id="287" r:id="rId31"/>
    <p:sldId id="288" r:id="rId32"/>
    <p:sldId id="292" r:id="rId33"/>
    <p:sldId id="293" r:id="rId34"/>
    <p:sldId id="291" r:id="rId35"/>
    <p:sldId id="289" r:id="rId36"/>
    <p:sldId id="290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09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7F83B-DCA3-4563-B0AB-466FF243F793}" type="slidenum">
              <a:rPr lang="fr-FR" smtClean="0">
                <a:solidFill>
                  <a:srgbClr val="FFFFFF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8376A6E-0084-40C1-A88C-A23736DBC479}"/>
              </a:ext>
            </a:extLst>
          </p:cNvPr>
          <p:cNvSpPr txBox="1"/>
          <p:nvPr userDrawn="1"/>
        </p:nvSpPr>
        <p:spPr>
          <a:xfrm rot="20473867">
            <a:off x="6228184" y="548680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www.ispits.net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B4144F-9433-4045-8AF0-8324AE5FDA53}" type="slidenum">
              <a:rPr lang="fr-FR" smtClean="0">
                <a:solidFill>
                  <a:srgbClr val="FFFFFF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E9EDCDF-EA44-41C0-9405-44ED4BEC3BFB}"/>
              </a:ext>
            </a:extLst>
          </p:cNvPr>
          <p:cNvSpPr txBox="1"/>
          <p:nvPr userDrawn="1"/>
        </p:nvSpPr>
        <p:spPr>
          <a:xfrm>
            <a:off x="5868144" y="836712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www.ispits.net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B378411-6FA6-412A-AD46-D804A7189264}"/>
              </a:ext>
            </a:extLst>
          </p:cNvPr>
          <p:cNvSpPr txBox="1"/>
          <p:nvPr userDrawn="1"/>
        </p:nvSpPr>
        <p:spPr>
          <a:xfrm>
            <a:off x="6372200" y="635635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www.ispits.net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D0BA07-4D26-4DDD-8520-10753D5E3F4A}" type="slidenum">
              <a:rPr lang="fr-FR" smtClean="0">
                <a:solidFill>
                  <a:srgbClr val="FFFFFF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20D141-DA9E-4437-863C-5B0914EF8136}" type="slidenum">
              <a:rPr lang="fr-FR" smtClean="0">
                <a:solidFill>
                  <a:srgbClr val="FFFFFF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0724D2-5DEB-4717-B9DC-2B36F1FCCA36}" type="slidenum">
              <a:rPr lang="fr-FR" smtClean="0">
                <a:solidFill>
                  <a:srgbClr val="FFFFFF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B6E669-871A-49CD-979C-0273FE9DA60F}" type="slidenum">
              <a:rPr lang="fr-FR" smtClean="0">
                <a:solidFill>
                  <a:srgbClr val="FFFFFF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ED9632-EE02-4A85-8986-1DC32CBD3FDA}" type="slidenum">
              <a:rPr lang="fr-FR" smtClean="0">
                <a:solidFill>
                  <a:srgbClr val="FFFFFF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0D56CA-FFE7-484D-B5CE-2F72076A7C1C}" type="slidenum">
              <a:rPr lang="fr-FR" smtClean="0">
                <a:solidFill>
                  <a:srgbClr val="FFFFFF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A467C2-F3AD-4A0C-9388-856BC1FF7F11}" type="slidenum">
              <a:rPr lang="fr-FR" smtClean="0">
                <a:solidFill>
                  <a:srgbClr val="FFFFFF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07F0AE-44B3-4D09-9DD0-AD0762833881}" type="slidenum">
              <a:rPr lang="fr-FR" smtClean="0">
                <a:solidFill>
                  <a:srgbClr val="FFFFFF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3BF604-E92B-490F-8E50-8DC2938552E5}" type="slidenum">
              <a:rPr lang="fr-FR" smtClean="0">
                <a:solidFill>
                  <a:srgbClr val="FFFFFF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50FBBAB-9C6D-4053-8E2E-2AD2303027A0}" type="slidenum">
              <a:rPr lang="fr-FR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836712"/>
            <a:ext cx="7772400" cy="2304256"/>
          </a:xfrm>
          <a:ln w="38100"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angle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fr-FR" dirty="0"/>
              <a:t>	</a:t>
            </a:r>
            <a:br>
              <a:rPr lang="fr-FR" dirty="0"/>
            </a:br>
            <a:r>
              <a:rPr lang="fr-FR" dirty="0">
                <a:solidFill>
                  <a:schemeClr val="tx1"/>
                </a:solidFill>
              </a:rPr>
              <a:t>QCM </a:t>
            </a:r>
            <a:br>
              <a:rPr lang="fr-FR" sz="3200" dirty="0">
                <a:solidFill>
                  <a:schemeClr val="tx1"/>
                </a:solidFill>
              </a:rPr>
            </a:br>
            <a:r>
              <a:rPr lang="fr-FR" sz="3200" dirty="0">
                <a:solidFill>
                  <a:schemeClr val="tx1"/>
                </a:solidFill>
              </a:rPr>
              <a:t> </a:t>
            </a:r>
            <a:r>
              <a:rPr lang="fr-FR" sz="3600" dirty="0">
                <a:solidFill>
                  <a:schemeClr val="bg1"/>
                </a:solidFill>
                <a:effectLst/>
                <a:latin typeface="Algerian" pitchFamily="82" charset="0"/>
              </a:rPr>
              <a:t>Examen d’aptitude professionnelle pour l’accès au grade d’ide gp (échelle 11)  </a:t>
            </a:r>
            <a:br>
              <a:rPr lang="fr-FR" sz="3600" dirty="0">
                <a:solidFill>
                  <a:schemeClr val="bg1"/>
                </a:solidFill>
                <a:latin typeface="Algerian" pitchFamily="82" charset="0"/>
              </a:rPr>
            </a:br>
            <a:endParaRPr lang="fr-FR" sz="3600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3717032"/>
            <a:ext cx="7056784" cy="1584176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/>
              <a:t>QCM Corrigé </a:t>
            </a:r>
            <a:r>
              <a:rPr lang="fr-FR" b="1" dirty="0">
                <a:effectLst/>
              </a:rPr>
              <a:t> :</a:t>
            </a:r>
            <a:endParaRPr lang="fr-FR" dirty="0">
              <a:effectLst/>
            </a:endParaRPr>
          </a:p>
          <a:p>
            <a:r>
              <a:rPr lang="fr-FR" sz="2000" b="1" dirty="0">
                <a:effectLst/>
              </a:rPr>
              <a:t>Mr. HADDOUGUI Driss</a:t>
            </a:r>
            <a:r>
              <a:rPr lang="fr-FR" sz="2000" dirty="0">
                <a:effectLst/>
              </a:rPr>
              <a:t> </a:t>
            </a:r>
          </a:p>
          <a:p>
            <a:r>
              <a:rPr lang="fr-FR" sz="2000" b="1" dirty="0">
                <a:effectLst/>
              </a:rPr>
              <a:t>Cadre de santé et chef de PSI à CHP Mohammedia</a:t>
            </a:r>
          </a:p>
          <a:p>
            <a:endParaRPr lang="fr-FR" dirty="0">
              <a:effectLst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eaLnBrk="1" hangingPunct="1">
              <a:defRPr/>
            </a:pPr>
            <a:r>
              <a:rPr lang="fr-FR" sz="3600" dirty="0">
                <a:solidFill>
                  <a:schemeClr val="bg1"/>
                </a:solidFill>
                <a:effectLst/>
              </a:rPr>
              <a:t>Q1- Les temps de la planification stratégique sont: 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fr-FR" sz="4000" b="1" dirty="0">
                <a:solidFill>
                  <a:srgbClr val="FF0000"/>
                </a:solidFill>
                <a:effectLst/>
              </a:rPr>
              <a:t>A- le temps politique</a:t>
            </a:r>
          </a:p>
          <a:p>
            <a:pPr>
              <a:buNone/>
            </a:pPr>
            <a:r>
              <a:rPr lang="fr-FR" sz="4000" b="1" dirty="0">
                <a:solidFill>
                  <a:srgbClr val="FF0000"/>
                </a:solidFill>
                <a:effectLst/>
              </a:rPr>
              <a:t>B- Le temps stratégique</a:t>
            </a:r>
          </a:p>
          <a:p>
            <a:pPr>
              <a:buNone/>
            </a:pPr>
            <a:r>
              <a:rPr lang="fr-FR" sz="4000" dirty="0">
                <a:effectLst/>
              </a:rPr>
              <a:t>C- Le temps empirique</a:t>
            </a:r>
          </a:p>
          <a:p>
            <a:pPr>
              <a:buNone/>
            </a:pPr>
            <a:r>
              <a:rPr lang="fr-FR" sz="4000" b="1" dirty="0">
                <a:solidFill>
                  <a:srgbClr val="FF0000"/>
                </a:solidFill>
                <a:effectLst/>
              </a:rPr>
              <a:t>D- Le temps tactique</a:t>
            </a:r>
          </a:p>
          <a:p>
            <a:pPr eaLnBrk="1" hangingPunct="1">
              <a:buNone/>
              <a:defRPr/>
            </a:pPr>
            <a:endParaRPr lang="fr-FR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45624" cy="1575048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Q2- Lequel des outils suivants ne fait pas partie des outils principaux de la planification stratégique?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2204864"/>
            <a:ext cx="8373616" cy="3949899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fr-FR" sz="4400" b="1" dirty="0">
                <a:solidFill>
                  <a:srgbClr val="FF0000"/>
                </a:solidFill>
                <a:effectLst/>
              </a:rPr>
              <a:t>A- Les plans d’effectifs</a:t>
            </a:r>
          </a:p>
          <a:p>
            <a:pPr>
              <a:buNone/>
            </a:pPr>
            <a:r>
              <a:rPr lang="fr-FR" sz="4400" dirty="0">
                <a:effectLst/>
              </a:rPr>
              <a:t>B- Le budget programme</a:t>
            </a:r>
          </a:p>
          <a:p>
            <a:pPr>
              <a:buNone/>
            </a:pPr>
            <a:r>
              <a:rPr lang="fr-FR" sz="4400" dirty="0">
                <a:effectLst/>
              </a:rPr>
              <a:t>C- Le plan stratégique provincial</a:t>
            </a:r>
          </a:p>
          <a:p>
            <a:pPr>
              <a:buNone/>
            </a:pPr>
            <a:r>
              <a:rPr lang="fr-FR" sz="4400" dirty="0">
                <a:effectLst/>
              </a:rPr>
              <a:t>D- Le plan stratégique régional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570186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Q3- le projet d’établissement hospitalier comprend entre outres les projets suivants?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060848"/>
            <a:ext cx="8229600" cy="4065315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4000" b="1" dirty="0">
                <a:solidFill>
                  <a:srgbClr val="FF0000"/>
                </a:solidFill>
                <a:effectLst/>
              </a:rPr>
              <a:t>A- Projet managérial</a:t>
            </a:r>
          </a:p>
          <a:p>
            <a:pPr>
              <a:buNone/>
            </a:pPr>
            <a:r>
              <a:rPr lang="fr-FR" sz="4000" dirty="0">
                <a:effectLst/>
              </a:rPr>
              <a:t>B- Projet social</a:t>
            </a:r>
          </a:p>
          <a:p>
            <a:pPr>
              <a:buNone/>
            </a:pPr>
            <a:r>
              <a:rPr lang="fr-FR" sz="4000" dirty="0">
                <a:effectLst/>
              </a:rPr>
              <a:t>C- Projet technique</a:t>
            </a:r>
          </a:p>
          <a:p>
            <a:pPr>
              <a:buNone/>
            </a:pPr>
            <a:r>
              <a:rPr lang="fr-FR" sz="4000" dirty="0">
                <a:effectLst/>
              </a:rPr>
              <a:t>D- Projet administratif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sz="40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Q4- lequel des pôles suivants ne fait pas partie des pôles de gestion d’un centre hospitalier?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fr-FR" sz="4000" dirty="0">
                <a:effectLst/>
              </a:rPr>
              <a:t>A- le </a:t>
            </a:r>
            <a:r>
              <a:rPr lang="fr-FR" sz="4000" dirty="0"/>
              <a:t>pôle </a:t>
            </a:r>
            <a:r>
              <a:rPr lang="fr-FR" sz="4000" dirty="0">
                <a:effectLst/>
              </a:rPr>
              <a:t>des affaires médicales</a:t>
            </a: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B- le </a:t>
            </a:r>
            <a:r>
              <a:rPr lang="fr-FR" sz="3600" b="1" dirty="0">
                <a:solidFill>
                  <a:srgbClr val="FF0000"/>
                </a:solidFill>
              </a:rPr>
              <a:t>pôle </a:t>
            </a:r>
            <a:r>
              <a:rPr lang="fr-FR" sz="3600" b="1" dirty="0">
                <a:solidFill>
                  <a:srgbClr val="FF0000"/>
                </a:solidFill>
                <a:effectLst/>
              </a:rPr>
              <a:t>des affaires professionnelles</a:t>
            </a:r>
          </a:p>
          <a:p>
            <a:pPr>
              <a:buNone/>
            </a:pPr>
            <a:r>
              <a:rPr lang="fr-FR" sz="4000" dirty="0">
                <a:effectLst/>
              </a:rPr>
              <a:t>C- le </a:t>
            </a:r>
            <a:r>
              <a:rPr lang="fr-FR" sz="4000" dirty="0"/>
              <a:t>pôle </a:t>
            </a:r>
            <a:r>
              <a:rPr lang="fr-FR" sz="4000" dirty="0">
                <a:effectLst/>
              </a:rPr>
              <a:t>des affaires administratives</a:t>
            </a: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</a:rPr>
              <a:t>D- le pôle des affaires sociales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Q5- les hôpitaux généraux de 120 à 240 lits sont organisés: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A- En six départements cliniques et trois services</a:t>
            </a:r>
          </a:p>
          <a:p>
            <a:pPr>
              <a:buNone/>
            </a:pPr>
            <a:r>
              <a:rPr lang="fr-FR" dirty="0">
                <a:effectLst/>
              </a:rPr>
              <a:t>B- En cinq départements cliniques et trois services</a:t>
            </a:r>
          </a:p>
          <a:p>
            <a:pPr>
              <a:buNone/>
            </a:pPr>
            <a:r>
              <a:rPr lang="fr-FR" dirty="0">
                <a:effectLst/>
              </a:rPr>
              <a:t>C- En six départements cliniques et deux services</a:t>
            </a:r>
          </a:p>
          <a:p>
            <a:pPr>
              <a:buNone/>
            </a:pPr>
            <a:r>
              <a:rPr lang="fr-FR" dirty="0">
                <a:effectLst/>
              </a:rPr>
              <a:t>D- En cinq départements cliniques et trois services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82154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eaLnBrk="1" hangingPunct="1">
              <a:defRPr/>
            </a:pPr>
            <a:r>
              <a:rPr lang="fr-FR" sz="2800" b="1" dirty="0">
                <a:solidFill>
                  <a:schemeClr val="bg1"/>
                </a:solidFill>
                <a:effectLst/>
              </a:rPr>
              <a:t>Q6- En milieu urbain, les critères d’éligibilité du postulant au régime d’assistance médicale (RAMED) sont définis comme suit: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44824"/>
            <a:ext cx="8229600" cy="4281339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fr-FR" sz="2400" dirty="0">
                <a:effectLst/>
              </a:rPr>
              <a:t>A- Avoir la qualité de résidant dans une commune dont le taux de pauvreté est supérieur ou égal à 30%</a:t>
            </a:r>
          </a:p>
          <a:p>
            <a:pPr>
              <a:buNone/>
            </a:pPr>
            <a:r>
              <a:rPr lang="fr-FR" sz="2400" dirty="0">
                <a:effectLst/>
              </a:rPr>
              <a:t>B- Avoir la qualité de résidant dans une commune dont le taux de pauvreté est supérieur ou égal à 40%</a:t>
            </a:r>
          </a:p>
          <a:p>
            <a:pPr>
              <a:buNone/>
            </a:pPr>
            <a:r>
              <a:rPr lang="fr-FR" sz="2400" b="1" dirty="0">
                <a:solidFill>
                  <a:srgbClr val="FF0000"/>
                </a:solidFill>
                <a:effectLst/>
              </a:rPr>
              <a:t>C- Disposer d’un revenu annuel inférieur à 5650 DH par personne composant le ménage</a:t>
            </a:r>
          </a:p>
          <a:p>
            <a:pPr>
              <a:buNone/>
            </a:pPr>
            <a:r>
              <a:rPr lang="fr-FR" sz="2400" b="1" dirty="0">
                <a:solidFill>
                  <a:srgbClr val="FF0000"/>
                </a:solidFill>
                <a:effectLst/>
              </a:rPr>
              <a:t>D- Avoir un score des conditions socio-économiques inférieur ou égal à 11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Q7- la carte sanitaire est un outil législatif de: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fr-FR" dirty="0">
                <a:effectLst/>
              </a:rPr>
              <a:t>A- l’organisation des services de soins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B- l’organisation de l’offre de soins</a:t>
            </a:r>
          </a:p>
          <a:p>
            <a:pPr>
              <a:buNone/>
            </a:pPr>
            <a:r>
              <a:rPr lang="fr-FR" dirty="0">
                <a:effectLst/>
              </a:rPr>
              <a:t>C- l’organisation des établissements hospitaliers</a:t>
            </a:r>
          </a:p>
          <a:p>
            <a:pPr>
              <a:buNone/>
            </a:pPr>
            <a:r>
              <a:rPr lang="fr-FR" dirty="0">
                <a:effectLst/>
              </a:rPr>
              <a:t>D- l’organisation des établissements de soins primaires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Q8- les bénéficiaires des prestations du régime d’assistance médicale (RAMED) sont: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A- les personnes qui ne sont assujettis à aucun régime d’assurance maladie obligatoire</a:t>
            </a:r>
          </a:p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B- leur(s) conjoint(s)</a:t>
            </a:r>
          </a:p>
          <a:p>
            <a:pPr>
              <a:buNone/>
            </a:pPr>
            <a:r>
              <a:rPr lang="fr-FR" sz="2800" dirty="0">
                <a:effectLst/>
              </a:rPr>
              <a:t>C- leurs parents</a:t>
            </a:r>
          </a:p>
          <a:p>
            <a:pPr>
              <a:buNone/>
            </a:pPr>
            <a:r>
              <a:rPr lang="fr-FR" sz="2800" dirty="0">
                <a:effectLst/>
              </a:rPr>
              <a:t>D- leurs enfants à charge, non salariés, âgés de 24 ans au plus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Q9- Sont admis de droit au bénéfice de l’assistance médicale (RAMED) 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A- les pensionnaires des établissements de bienfaisance, orphelinats et hospices</a:t>
            </a:r>
          </a:p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B- les pensionnaires des établissements pénitentiaires</a:t>
            </a:r>
          </a:p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C- les personnes sans domicile fixe</a:t>
            </a:r>
          </a:p>
          <a:p>
            <a:pPr>
              <a:buNone/>
            </a:pPr>
            <a:r>
              <a:rPr lang="fr-FR" sz="2800" dirty="0">
                <a:effectLst/>
              </a:rPr>
              <a:t>D- les anciens membres de la résistance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3200" b="1" dirty="0">
                <a:solidFill>
                  <a:schemeClr val="bg1"/>
                </a:solidFill>
              </a:rPr>
              <a:t>Q10- le régime d’assistance médicale couvre les prestations médicalement requises suivantes 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A- les dispositifs médicaux et implants nécessaires aux différents actes médicaux et chirurgicaux</a:t>
            </a:r>
          </a:p>
          <a:p>
            <a:pPr>
              <a:buNone/>
            </a:pPr>
            <a:r>
              <a:rPr lang="fr-FR" sz="2800" dirty="0">
                <a:effectLst/>
              </a:rPr>
              <a:t>B- les interventions de chirurgie plastique et esthétique</a:t>
            </a:r>
          </a:p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C- les articles de prothèse et d’orthèse.</a:t>
            </a:r>
          </a:p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D- les actes de chirurgie réparatrice et d’orthopédie maxillo-faciale.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82154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eaLnBrk="1" hangingPunct="1">
              <a:defRPr/>
            </a:pPr>
            <a:r>
              <a:rPr lang="fr-FR" sz="2800" b="1" dirty="0">
                <a:solidFill>
                  <a:schemeClr val="bg1"/>
                </a:solidFill>
              </a:rPr>
              <a:t>Q11- En 2010, la part des soins ambulatoires dans la dépense du système national de santé est classée: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72816"/>
            <a:ext cx="8229600" cy="4353347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fr-FR" sz="4400" dirty="0">
                <a:effectLst/>
              </a:rPr>
              <a:t>A- En premier rang</a:t>
            </a:r>
          </a:p>
          <a:p>
            <a:pPr>
              <a:buNone/>
            </a:pPr>
            <a:r>
              <a:rPr lang="fr-FR" sz="4400" b="1" dirty="0">
                <a:solidFill>
                  <a:srgbClr val="FF0000"/>
                </a:solidFill>
                <a:effectLst/>
              </a:rPr>
              <a:t>B- En 2eme rang</a:t>
            </a:r>
          </a:p>
          <a:p>
            <a:pPr>
              <a:buNone/>
            </a:pPr>
            <a:r>
              <a:rPr lang="fr-FR" sz="4400" dirty="0">
                <a:effectLst/>
              </a:rPr>
              <a:t>C- En 3eme rang</a:t>
            </a:r>
          </a:p>
          <a:p>
            <a:pPr>
              <a:buNone/>
            </a:pPr>
            <a:r>
              <a:rPr lang="fr-FR" sz="4400" dirty="0">
                <a:effectLst/>
              </a:rPr>
              <a:t>D- En 4eme rang.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Q12- En 2010, le ministère de la santé , qui constitue le premier prestataire de soins, est classé comme 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fr-FR" sz="2800" dirty="0">
                <a:effectLst/>
              </a:rPr>
              <a:t>A- Premier bénéficiaire du financement du système national de santé </a:t>
            </a:r>
          </a:p>
          <a:p>
            <a:pPr>
              <a:buNone/>
            </a:pPr>
            <a:r>
              <a:rPr lang="fr-FR" sz="2800" dirty="0">
                <a:effectLst/>
              </a:rPr>
              <a:t>B- 2Eme bénéficiaire du financement du système national de santé </a:t>
            </a:r>
          </a:p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C- 3Eme bénéficiaire du financement du système national de santé </a:t>
            </a:r>
          </a:p>
          <a:p>
            <a:pPr>
              <a:buNone/>
            </a:pPr>
            <a:r>
              <a:rPr lang="fr-FR" sz="2800" dirty="0">
                <a:effectLst/>
              </a:rPr>
              <a:t>D- 4Eme bénéficiaire du financement du système national de santé 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Q13- La moitié des dépenses des ménages par prestataire pour l’année 2010 est effectuée auprès 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fr-FR" sz="3600" dirty="0">
                <a:effectLst/>
              </a:rPr>
              <a:t>A- Des cabinets et cliniques privées.</a:t>
            </a: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B- des pharmacies et des fournisseurs de soins en terme d’achat des médicaments et des biens médicaux</a:t>
            </a:r>
          </a:p>
          <a:p>
            <a:pPr>
              <a:buNone/>
            </a:pPr>
            <a:r>
              <a:rPr lang="fr-FR" sz="3600" dirty="0">
                <a:effectLst/>
              </a:rPr>
              <a:t>C- Des hôpitaux publics</a:t>
            </a:r>
          </a:p>
          <a:p>
            <a:pPr>
              <a:buNone/>
            </a:pPr>
            <a:r>
              <a:rPr lang="fr-FR" sz="3600" dirty="0">
                <a:effectLst/>
              </a:rPr>
              <a:t>D- des établissements de soins de santé de base 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Q14- La source principale de financement des activités du ministère de la santé est représentée par 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fr-FR" sz="4000" dirty="0">
                <a:effectLst/>
              </a:rPr>
              <a:t>A- Les ménages </a:t>
            </a:r>
          </a:p>
          <a:p>
            <a:pPr>
              <a:buNone/>
            </a:pPr>
            <a:r>
              <a:rPr lang="fr-FR" sz="4000" b="1" dirty="0">
                <a:solidFill>
                  <a:srgbClr val="FF0000"/>
                </a:solidFill>
                <a:effectLst/>
              </a:rPr>
              <a:t>B- le budget de l’État</a:t>
            </a:r>
          </a:p>
          <a:p>
            <a:pPr>
              <a:buNone/>
            </a:pPr>
            <a:r>
              <a:rPr lang="fr-FR" sz="4000" dirty="0">
                <a:effectLst/>
              </a:rPr>
              <a:t>C- les assurances et mutuelles</a:t>
            </a:r>
          </a:p>
          <a:p>
            <a:pPr>
              <a:buNone/>
            </a:pPr>
            <a:r>
              <a:rPr lang="fr-FR" sz="4000" dirty="0">
                <a:effectLst/>
              </a:rPr>
              <a:t>D- la coopération internationale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Q15- La part la plus importante (47%) des dépenses du ministère de la santé en 2010 est allouée  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fr-FR" sz="3600" dirty="0">
                <a:effectLst/>
              </a:rPr>
              <a:t>A- Au réseau de soins de santé de base (RSSB)</a:t>
            </a: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B- Aux hôpitaux</a:t>
            </a:r>
          </a:p>
          <a:p>
            <a:pPr>
              <a:buNone/>
            </a:pPr>
            <a:r>
              <a:rPr lang="fr-FR" sz="3600" dirty="0">
                <a:effectLst/>
              </a:rPr>
              <a:t>C- Aux instituts, centres et laboratoires nationaux (ICLN)</a:t>
            </a:r>
          </a:p>
          <a:p>
            <a:pPr>
              <a:buNone/>
            </a:pPr>
            <a:r>
              <a:rPr lang="fr-FR" sz="3600" dirty="0">
                <a:effectLst/>
              </a:rPr>
              <a:t>D- à l’administration centrale et locale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77813"/>
            <a:ext cx="8363272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>
              <a:defRPr/>
            </a:pPr>
            <a:r>
              <a:rPr lang="fr-FR" sz="2600" b="1" dirty="0">
                <a:solidFill>
                  <a:schemeClr val="bg1"/>
                </a:solidFill>
              </a:rPr>
              <a:t>Q16- La couverture médicale du personnel du secteur public est assurée essentiellement par des sociétés mutualistes , fédérées au sein de la CNOPS et qui sont au nombre de 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348880"/>
            <a:ext cx="8229600" cy="3782045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fr-FR" sz="4000" dirty="0">
                <a:effectLst/>
              </a:rPr>
              <a:t>A- Six(6)</a:t>
            </a:r>
          </a:p>
          <a:p>
            <a:pPr>
              <a:buNone/>
            </a:pPr>
            <a:r>
              <a:rPr lang="fr-FR" sz="4000" dirty="0">
                <a:effectLst/>
              </a:rPr>
              <a:t>B- Sept (7)</a:t>
            </a:r>
          </a:p>
          <a:p>
            <a:pPr>
              <a:buNone/>
            </a:pPr>
            <a:r>
              <a:rPr lang="fr-FR" sz="4000" b="1" dirty="0">
                <a:solidFill>
                  <a:srgbClr val="FF0000"/>
                </a:solidFill>
                <a:effectLst/>
              </a:rPr>
              <a:t>C- Huit (8)</a:t>
            </a:r>
          </a:p>
          <a:p>
            <a:pPr>
              <a:buNone/>
            </a:pPr>
            <a:r>
              <a:rPr lang="fr-FR" sz="4000" dirty="0">
                <a:effectLst/>
              </a:rPr>
              <a:t>D- Neuf (9)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Q17- Depuis l’entrée en vigueur de la loi 65-00 portant code de la couverture médicale de base le 18 Aout 2005: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fr-FR" sz="2800" dirty="0">
                <a:effectLst/>
              </a:rPr>
              <a:t>A- </a:t>
            </a:r>
            <a:r>
              <a:rPr lang="fr-FR" sz="2800" b="1" dirty="0">
                <a:solidFill>
                  <a:srgbClr val="FF0000"/>
                </a:solidFill>
                <a:effectLst/>
              </a:rPr>
              <a:t>La CNOPS gère le régime de l’assurance obligatoire de base (AMO) au profit des fonctionnaires et agents actifs et retraités du secteur public et leurs ayants droit.</a:t>
            </a:r>
          </a:p>
          <a:p>
            <a:pPr>
              <a:buNone/>
            </a:pPr>
            <a:r>
              <a:rPr lang="fr-FR" sz="2800" dirty="0">
                <a:effectLst/>
              </a:rPr>
              <a:t>B- </a:t>
            </a:r>
            <a:r>
              <a:rPr lang="fr-FR" sz="2800" dirty="0"/>
              <a:t>La CNSS gère le régime de l’assurance obligatoire de base (AMO) au profit des fonctionnaires et agents actifs et retraités du secteur public et leurs ayants droit.</a:t>
            </a:r>
            <a:endParaRPr lang="fr-FR" sz="2800" dirty="0">
              <a:effectLst/>
            </a:endParaRPr>
          </a:p>
          <a:p>
            <a:pPr>
              <a:buNone/>
            </a:pPr>
            <a:r>
              <a:rPr lang="fr-FR" sz="2800" dirty="0">
                <a:effectLst/>
              </a:rPr>
              <a:t>C- </a:t>
            </a:r>
            <a:r>
              <a:rPr lang="fr-FR" sz="2800" dirty="0"/>
              <a:t>La CNOPS gère le régime de l’assurance obligatoire de base (AMO) au profit des salariés actifs et des retraités du secteur privé et leurs ayants droit.</a:t>
            </a:r>
            <a:endParaRPr lang="fr-FR" sz="2800" dirty="0">
              <a:effectLst/>
            </a:endParaRPr>
          </a:p>
          <a:p>
            <a:pPr>
              <a:buNone/>
            </a:pPr>
            <a:r>
              <a:rPr lang="fr-FR" sz="2800" dirty="0">
                <a:effectLst/>
              </a:rPr>
              <a:t>D- </a:t>
            </a:r>
            <a:r>
              <a:rPr lang="fr-FR" sz="2800" b="1" dirty="0">
                <a:solidFill>
                  <a:srgbClr val="FF0000"/>
                </a:solidFill>
              </a:rPr>
              <a:t>La caisse nationale de sécurité sociale (CNSS) gère le régime de l’assurance obligatoire de base (AMO) au profit des salariés actifs et des retraités du secteur privé et leurs ayants droit.</a:t>
            </a:r>
            <a:endParaRPr lang="fr-FR" sz="2800" b="1" dirty="0">
              <a:solidFill>
                <a:srgbClr val="FF0000"/>
              </a:solidFill>
              <a:effectLst/>
            </a:endParaRPr>
          </a:p>
          <a:p>
            <a:pPr eaLnBrk="1" hangingPunct="1">
              <a:buNone/>
              <a:defRPr/>
            </a:pPr>
            <a:r>
              <a:rPr lang="fr-FR" dirty="0" err="1">
                <a:solidFill>
                  <a:srgbClr val="FF0000"/>
                </a:solidFill>
                <a:effectLst/>
              </a:rPr>
              <a:t>Rep</a:t>
            </a:r>
            <a:r>
              <a:rPr lang="fr-FR" dirty="0">
                <a:solidFill>
                  <a:srgbClr val="FF0000"/>
                </a:solidFill>
                <a:effectLst/>
              </a:rPr>
              <a:t>: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3200" b="1" dirty="0">
                <a:solidFill>
                  <a:schemeClr val="bg1"/>
                </a:solidFill>
              </a:rPr>
              <a:t>Q18- Les fonctions de soins </a:t>
            </a:r>
            <a:r>
              <a:rPr lang="fr-FR" sz="3200" b="1" dirty="0" err="1">
                <a:solidFill>
                  <a:schemeClr val="bg1"/>
                </a:solidFill>
              </a:rPr>
              <a:t>médico</a:t>
            </a:r>
            <a:r>
              <a:rPr lang="fr-FR" sz="3200" b="1" dirty="0">
                <a:solidFill>
                  <a:schemeClr val="bg1"/>
                </a:solidFill>
              </a:rPr>
              <a:t>- hospitalières complètes sont au nombre de: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4400" dirty="0">
                <a:effectLst/>
              </a:rPr>
              <a:t>A- </a:t>
            </a:r>
            <a:r>
              <a:rPr lang="fr-FR" sz="4400" dirty="0"/>
              <a:t>7 fonctions</a:t>
            </a:r>
            <a:endParaRPr lang="fr-FR" sz="4400" dirty="0">
              <a:effectLst/>
            </a:endParaRPr>
          </a:p>
          <a:p>
            <a:pPr>
              <a:buNone/>
            </a:pPr>
            <a:r>
              <a:rPr lang="fr-FR" sz="4400" dirty="0">
                <a:effectLst/>
              </a:rPr>
              <a:t>B- </a:t>
            </a:r>
            <a:r>
              <a:rPr lang="fr-FR" sz="4400" dirty="0"/>
              <a:t>12 fonctions</a:t>
            </a:r>
            <a:endParaRPr lang="fr-FR" sz="4400" dirty="0">
              <a:effectLst/>
            </a:endParaRPr>
          </a:p>
          <a:p>
            <a:pPr>
              <a:buNone/>
            </a:pPr>
            <a:r>
              <a:rPr lang="fr-FR" sz="4400" b="1" dirty="0">
                <a:solidFill>
                  <a:srgbClr val="FF0000"/>
                </a:solidFill>
                <a:effectLst/>
              </a:rPr>
              <a:t>C- </a:t>
            </a:r>
            <a:r>
              <a:rPr lang="fr-FR" sz="4400" b="1" dirty="0">
                <a:solidFill>
                  <a:srgbClr val="FF0000"/>
                </a:solidFill>
              </a:rPr>
              <a:t>16 fonctions</a:t>
            </a:r>
            <a:endParaRPr lang="fr-FR" sz="44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4400" dirty="0">
                <a:effectLst/>
              </a:rPr>
              <a:t>D- </a:t>
            </a:r>
            <a:r>
              <a:rPr lang="fr-FR" sz="4400" dirty="0"/>
              <a:t>19 fonctions</a:t>
            </a:r>
            <a:endParaRPr lang="fr-FR" sz="4400" dirty="0"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sz="44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Q19- La filière de soins est une organisation: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A- </a:t>
            </a:r>
            <a:r>
              <a:rPr lang="fr-FR" sz="2800" b="1" dirty="0">
                <a:solidFill>
                  <a:srgbClr val="FF0000"/>
                </a:solidFill>
              </a:rPr>
              <a:t>Verticale hiérarchisée de prise en charge des patients</a:t>
            </a:r>
            <a:endParaRPr lang="fr-FR" sz="28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2800" dirty="0">
                <a:effectLst/>
              </a:rPr>
              <a:t>B- </a:t>
            </a:r>
            <a:r>
              <a:rPr lang="fr-FR" sz="2800" dirty="0"/>
              <a:t>Verticale non hiérarchisée de prise en charge des patients</a:t>
            </a:r>
            <a:endParaRPr lang="fr-FR" sz="2800" dirty="0">
              <a:effectLst/>
            </a:endParaRPr>
          </a:p>
          <a:p>
            <a:pPr>
              <a:buNone/>
            </a:pPr>
            <a:r>
              <a:rPr lang="fr-FR" sz="2800" dirty="0">
                <a:effectLst/>
              </a:rPr>
              <a:t>C- </a:t>
            </a:r>
            <a:r>
              <a:rPr lang="fr-FR" sz="2800" dirty="0"/>
              <a:t>Horizontale hiérarchisée de prise en charge des patients</a:t>
            </a:r>
            <a:endParaRPr lang="fr-FR" sz="2800" dirty="0">
              <a:effectLst/>
            </a:endParaRPr>
          </a:p>
          <a:p>
            <a:pPr>
              <a:buNone/>
            </a:pPr>
            <a:r>
              <a:rPr lang="fr-FR" sz="2800" dirty="0">
                <a:effectLst/>
              </a:rPr>
              <a:t>D- </a:t>
            </a:r>
            <a:r>
              <a:rPr lang="fr-FR" sz="2800" dirty="0"/>
              <a:t>Horizontale non hiérarchisée de prise en charge des patients</a:t>
            </a:r>
            <a:endParaRPr lang="fr-FR" sz="2800" dirty="0"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Q20- L’évaluation quantitative des soins utilise les indicateurs suivants: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A- </a:t>
            </a:r>
            <a:r>
              <a:rPr lang="fr-FR" b="1" dirty="0">
                <a:solidFill>
                  <a:srgbClr val="FF0000"/>
                </a:solidFill>
              </a:rPr>
              <a:t>L’analyse du rapport cout/efficacité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B- </a:t>
            </a:r>
            <a:r>
              <a:rPr lang="fr-FR" dirty="0">
                <a:solidFill>
                  <a:schemeClr val="tx1"/>
                </a:solidFill>
              </a:rPr>
              <a:t>L’analyse du rapport cout/efficience</a:t>
            </a:r>
            <a:endParaRPr lang="fr-FR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C- </a:t>
            </a:r>
            <a:r>
              <a:rPr lang="fr-FR" b="1" dirty="0">
                <a:solidFill>
                  <a:srgbClr val="FF0000"/>
                </a:solidFill>
              </a:rPr>
              <a:t>L’analyse du rapport cout/utilité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D- </a:t>
            </a:r>
            <a:r>
              <a:rPr lang="fr-FR" b="1" dirty="0">
                <a:solidFill>
                  <a:srgbClr val="FF0000"/>
                </a:solidFill>
              </a:rPr>
              <a:t>L’analyse du rapport cout/bénéfice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 eaLnBrk="1" hangingPunct="1">
              <a:buNone/>
              <a:defRPr/>
            </a:pPr>
            <a:endParaRPr lang="fr-FR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Q21- L’analyse du cout ou de minimisation du cout tend à déterminer: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None/>
            </a:pPr>
            <a:r>
              <a:rPr lang="fr-FR" sz="2800" dirty="0">
                <a:effectLst/>
              </a:rPr>
              <a:t>A- </a:t>
            </a:r>
            <a:r>
              <a:rPr lang="fr-FR" sz="2800" dirty="0"/>
              <a:t>La qualité des ressources consommées par une pathologie donnée</a:t>
            </a:r>
            <a:endParaRPr lang="fr-FR" sz="2800" dirty="0">
              <a:effectLst/>
            </a:endParaRPr>
          </a:p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2800" b="1" dirty="0">
                <a:solidFill>
                  <a:srgbClr val="FF0000"/>
                </a:solidFill>
              </a:rPr>
              <a:t>La quantités des ressources consommées par une pathologie donnée</a:t>
            </a:r>
            <a:endParaRPr lang="fr-FR" sz="28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2800" dirty="0">
                <a:effectLst/>
              </a:rPr>
              <a:t>C- </a:t>
            </a:r>
            <a:r>
              <a:rPr lang="fr-FR" sz="2800" dirty="0"/>
              <a:t>La quantités des recettes engendrées par une pathologie donnée</a:t>
            </a:r>
            <a:endParaRPr lang="fr-FR" sz="2800" dirty="0">
              <a:effectLst/>
            </a:endParaRPr>
          </a:p>
          <a:p>
            <a:pPr>
              <a:buNone/>
            </a:pPr>
            <a:r>
              <a:rPr lang="fr-FR" sz="2800" dirty="0">
                <a:effectLst/>
              </a:rPr>
              <a:t>D- </a:t>
            </a:r>
            <a:r>
              <a:rPr lang="fr-FR" sz="2800" dirty="0"/>
              <a:t>La quantités des soins offerts pour une pathologie donnée</a:t>
            </a:r>
            <a:endParaRPr lang="fr-FR" sz="2800" dirty="0">
              <a:effectLst/>
            </a:endParaRPr>
          </a:p>
          <a:p>
            <a:pPr eaLnBrk="1" hangingPunct="1">
              <a:buNone/>
              <a:defRPr/>
            </a:pPr>
            <a:r>
              <a:rPr lang="fr-FR" dirty="0" err="1">
                <a:solidFill>
                  <a:srgbClr val="FF0000"/>
                </a:solidFill>
                <a:effectLst/>
              </a:rPr>
              <a:t>Rep</a:t>
            </a:r>
            <a:r>
              <a:rPr lang="fr-FR" dirty="0">
                <a:solidFill>
                  <a:srgbClr val="FF0000"/>
                </a:solidFill>
                <a:effectLst/>
              </a:rPr>
              <a:t>: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Q22- L’évaluation qualitative est une analyse de la qualité d’un acte de soins: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A- </a:t>
            </a:r>
            <a:r>
              <a:rPr lang="fr-FR" sz="2800" b="1" dirty="0">
                <a:solidFill>
                  <a:srgbClr val="FF0000"/>
                </a:solidFill>
              </a:rPr>
              <a:t>Conséquences en termes des résultats et la satisfaction des patients</a:t>
            </a:r>
            <a:endParaRPr lang="fr-FR" sz="28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2800" b="1" dirty="0">
                <a:solidFill>
                  <a:srgbClr val="FF0000"/>
                </a:solidFill>
              </a:rPr>
              <a:t>Conséquences en termes des ressources consommées par le soin</a:t>
            </a:r>
            <a:endParaRPr lang="fr-FR" sz="28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2800" dirty="0">
                <a:effectLst/>
              </a:rPr>
              <a:t>C- </a:t>
            </a:r>
            <a:r>
              <a:rPr lang="fr-FR" sz="2800" dirty="0">
                <a:solidFill>
                  <a:schemeClr val="tx1"/>
                </a:solidFill>
              </a:rPr>
              <a:t>Conséquences en termes des recettes engendrées par le soin</a:t>
            </a:r>
            <a:endParaRPr lang="fr-FR" sz="2800" dirty="0">
              <a:effectLst/>
            </a:endParaRPr>
          </a:p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D- </a:t>
            </a:r>
            <a:r>
              <a:rPr lang="fr-FR" sz="2800" b="1" dirty="0">
                <a:solidFill>
                  <a:srgbClr val="FF0000"/>
                </a:solidFill>
              </a:rPr>
              <a:t>Conséquences en termes d’efficacité du soin</a:t>
            </a:r>
            <a:endParaRPr lang="fr-FR" sz="2800" b="1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3200" b="1" dirty="0">
                <a:solidFill>
                  <a:schemeClr val="bg1"/>
                </a:solidFill>
              </a:rPr>
              <a:t>Q23- L’évaluation de la qualité des soins englobe: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  <a:effectLst/>
              </a:rPr>
              <a:t>A- </a:t>
            </a:r>
            <a:r>
              <a:rPr lang="fr-FR" sz="3600" dirty="0">
                <a:solidFill>
                  <a:schemeClr val="tx1"/>
                </a:solidFill>
              </a:rPr>
              <a:t>L’évaluation des procédures</a:t>
            </a:r>
            <a:endParaRPr lang="fr-FR" sz="360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3600" b="1" dirty="0">
                <a:solidFill>
                  <a:srgbClr val="FF0000"/>
                </a:solidFill>
              </a:rPr>
              <a:t>L’évaluation des résultats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C- </a:t>
            </a:r>
            <a:r>
              <a:rPr lang="fr-FR" sz="3600" b="1" dirty="0">
                <a:solidFill>
                  <a:srgbClr val="FF0000"/>
                </a:solidFill>
              </a:rPr>
              <a:t>L’évaluation des ressources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L’évaluation mixte</a:t>
            </a:r>
            <a:endParaRPr lang="fr-FR" sz="3600" dirty="0"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>
              <a:defRPr/>
            </a:pPr>
            <a:r>
              <a:rPr lang="fr-FR" sz="3200" b="1" dirty="0">
                <a:solidFill>
                  <a:schemeClr val="bg1"/>
                </a:solidFill>
              </a:rPr>
              <a:t>Q24- En milieu rural, les critères d’éligibilité du postulant au régime d’assistance médicale sont définis comme suit 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A- </a:t>
            </a:r>
            <a:r>
              <a:rPr lang="fr-FR" sz="2800" b="1" dirty="0">
                <a:solidFill>
                  <a:srgbClr val="FF0000"/>
                </a:solidFill>
              </a:rPr>
              <a:t>Avoir un score patrimonial inférieur ou égal à 70 par personne composant le ménage</a:t>
            </a:r>
            <a:endParaRPr lang="fr-FR" sz="28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2800" b="1" dirty="0">
                <a:solidFill>
                  <a:srgbClr val="FF0000"/>
                </a:solidFill>
              </a:rPr>
              <a:t>Avoir un score des conditions socio-économiques inférieur ou égal à 6</a:t>
            </a:r>
            <a:endParaRPr lang="fr-FR" sz="28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2800" dirty="0">
                <a:effectLst/>
              </a:rPr>
              <a:t>C- </a:t>
            </a:r>
            <a:r>
              <a:rPr lang="fr-FR" sz="2800" dirty="0">
                <a:solidFill>
                  <a:schemeClr val="tx1"/>
                </a:solidFill>
              </a:rPr>
              <a:t>Avoir un score patrimonial inférieur ou égal à 60 par personne composant le ménage</a:t>
            </a:r>
            <a:endParaRPr lang="fr-FR" sz="2800" dirty="0">
              <a:effectLst/>
            </a:endParaRPr>
          </a:p>
          <a:p>
            <a:pPr>
              <a:buNone/>
            </a:pPr>
            <a:r>
              <a:rPr lang="fr-FR" sz="2800" dirty="0">
                <a:effectLst/>
              </a:rPr>
              <a:t>D- </a:t>
            </a:r>
            <a:r>
              <a:rPr lang="fr-FR" sz="2800" dirty="0">
                <a:solidFill>
                  <a:schemeClr val="tx1"/>
                </a:solidFill>
              </a:rPr>
              <a:t>Avoir un score des conditions socio-économiques inférieur ou égal à 5</a:t>
            </a:r>
            <a:endParaRPr lang="fr-FR" sz="2800" dirty="0"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3200" b="1" dirty="0">
                <a:solidFill>
                  <a:schemeClr val="bg1"/>
                </a:solidFill>
              </a:rPr>
              <a:t>Q25- Dans la déclaration du millénaire pour le développement: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None/>
            </a:pPr>
            <a:r>
              <a:rPr lang="fr-FR" sz="2800" dirty="0">
                <a:solidFill>
                  <a:schemeClr val="tx1"/>
                </a:solidFill>
                <a:effectLst/>
              </a:rPr>
              <a:t>A- </a:t>
            </a:r>
            <a:r>
              <a:rPr lang="fr-FR" sz="2800" dirty="0">
                <a:solidFill>
                  <a:schemeClr val="tx1"/>
                </a:solidFill>
              </a:rPr>
              <a:t>Deux parmi huit objectifs concernent directement la santé</a:t>
            </a:r>
            <a:endParaRPr lang="fr-FR" sz="280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2800" b="1" dirty="0">
                <a:solidFill>
                  <a:srgbClr val="FF0000"/>
                </a:solidFill>
              </a:rPr>
              <a:t>Trois parmi huit objectifs concernent directement la santé</a:t>
            </a:r>
            <a:endParaRPr lang="fr-FR" sz="28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2800" dirty="0">
                <a:effectLst/>
              </a:rPr>
              <a:t>C- </a:t>
            </a:r>
            <a:r>
              <a:rPr lang="fr-FR" sz="2800" dirty="0">
                <a:solidFill>
                  <a:schemeClr val="tx1"/>
                </a:solidFill>
              </a:rPr>
              <a:t>Quatre parmi huit objectifs concernent directement la santé</a:t>
            </a:r>
            <a:endParaRPr lang="fr-FR" sz="2800" dirty="0">
              <a:effectLst/>
            </a:endParaRPr>
          </a:p>
          <a:p>
            <a:pPr>
              <a:buNone/>
            </a:pPr>
            <a:r>
              <a:rPr lang="fr-FR" sz="2800" dirty="0">
                <a:effectLst/>
              </a:rPr>
              <a:t>D- </a:t>
            </a:r>
            <a:r>
              <a:rPr lang="fr-FR" sz="2800" dirty="0">
                <a:solidFill>
                  <a:schemeClr val="tx1"/>
                </a:solidFill>
              </a:rPr>
              <a:t>Cinq parmi huit objectifs concernent directement la santé</a:t>
            </a:r>
            <a:endParaRPr lang="fr-FR" sz="2800" dirty="0">
              <a:effectLst/>
            </a:endParaRPr>
          </a:p>
          <a:p>
            <a:pPr eaLnBrk="1" hangingPunct="1">
              <a:buNone/>
              <a:defRPr/>
            </a:pPr>
            <a:r>
              <a:rPr lang="fr-FR" dirty="0" err="1">
                <a:solidFill>
                  <a:srgbClr val="FF0000"/>
                </a:solidFill>
                <a:effectLst/>
              </a:rPr>
              <a:t>Rep</a:t>
            </a:r>
            <a:r>
              <a:rPr lang="fr-FR" dirty="0">
                <a:solidFill>
                  <a:srgbClr val="FF0000"/>
                </a:solidFill>
                <a:effectLst/>
              </a:rPr>
              <a:t>: 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3200" b="1" dirty="0">
                <a:solidFill>
                  <a:schemeClr val="bg1"/>
                </a:solidFill>
              </a:rPr>
              <a:t>Q26- Le réseau coordonné des soins est une organisation: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2800" dirty="0">
                <a:solidFill>
                  <a:schemeClr val="tx1"/>
                </a:solidFill>
                <a:effectLst/>
              </a:rPr>
              <a:t>A- </a:t>
            </a:r>
            <a:r>
              <a:rPr lang="fr-FR" sz="2800" dirty="0">
                <a:solidFill>
                  <a:schemeClr val="tx1"/>
                </a:solidFill>
              </a:rPr>
              <a:t>Verticale hiérarchisée de la prise en charge des patients</a:t>
            </a:r>
            <a:endParaRPr lang="fr-FR" sz="280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r>
              <a:rPr lang="fr-FR" sz="2800" dirty="0">
                <a:solidFill>
                  <a:schemeClr val="tx1"/>
                </a:solidFill>
                <a:effectLst/>
              </a:rPr>
              <a:t>B- </a:t>
            </a:r>
            <a:r>
              <a:rPr lang="fr-FR" sz="2800" dirty="0">
                <a:solidFill>
                  <a:schemeClr val="tx1"/>
                </a:solidFill>
              </a:rPr>
              <a:t>Verticale non hiérarchisée de la prise en charge des patients</a:t>
            </a:r>
            <a:endParaRPr lang="fr-FR" sz="28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2800" dirty="0">
                <a:effectLst/>
              </a:rPr>
              <a:t>C- </a:t>
            </a:r>
            <a:r>
              <a:rPr lang="fr-FR" sz="2800" dirty="0">
                <a:solidFill>
                  <a:schemeClr val="tx1"/>
                </a:solidFill>
              </a:rPr>
              <a:t>Horizontale hiérarchisée de la prise en charge des patients</a:t>
            </a:r>
            <a:endParaRPr lang="fr-FR" sz="2800" dirty="0">
              <a:effectLst/>
            </a:endParaRPr>
          </a:p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D- </a:t>
            </a:r>
            <a:r>
              <a:rPr lang="fr-FR" sz="2800" b="1" dirty="0">
                <a:solidFill>
                  <a:srgbClr val="FF0000"/>
                </a:solidFill>
              </a:rPr>
              <a:t>Horizontale non hiérarchisée de la prise en charge des patients</a:t>
            </a:r>
            <a:endParaRPr lang="fr-FR" sz="2800" b="1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Q27- </a:t>
            </a:r>
            <a:r>
              <a:rPr lang="fr-FR" sz="3200" b="1" dirty="0">
                <a:effectLst/>
              </a:rPr>
              <a:t>Dans le programme du gouvernement 2012-2016, le secteur de la santé se trouve interpelé de façon directe à travers l’axe réservé à 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  <a:effectLst/>
              </a:rPr>
              <a:t>A- </a:t>
            </a:r>
            <a:r>
              <a:rPr lang="fr-FR" sz="3600" dirty="0">
                <a:solidFill>
                  <a:schemeClr val="tx1"/>
                </a:solidFill>
              </a:rPr>
              <a:t>La « garantie de l’accès aux médicaments »</a:t>
            </a:r>
            <a:endParaRPr lang="fr-FR" sz="360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3600" b="1" dirty="0">
                <a:solidFill>
                  <a:srgbClr val="FF0000"/>
                </a:solidFill>
              </a:rPr>
              <a:t>La « garantie de l’accès aux soins »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dirty="0">
                <a:effectLst/>
              </a:rPr>
              <a:t>C- </a:t>
            </a:r>
            <a:r>
              <a:rPr lang="fr-FR" sz="3600" dirty="0">
                <a:solidFill>
                  <a:schemeClr val="tx1"/>
                </a:solidFill>
              </a:rPr>
              <a:t>La « moralisation du secteur de santé »</a:t>
            </a:r>
            <a:endParaRPr lang="fr-FR" sz="3600" dirty="0">
              <a:effectLst/>
            </a:endParaRP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La « couverture médicale de base »</a:t>
            </a:r>
            <a:endParaRPr lang="fr-FR" sz="3600" dirty="0"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Q28- </a:t>
            </a:r>
            <a:r>
              <a:rPr lang="fr-FR" sz="3200" b="1" dirty="0"/>
              <a:t>La formulation stratégique du plan sectoriel de la santé pour la période 2012-2016 repose sur la ou les approches complémentaires suivantes</a:t>
            </a:r>
            <a:r>
              <a:rPr lang="fr-FR" sz="3200" b="1" dirty="0">
                <a:effectLst/>
              </a:rPr>
              <a:t> 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A- </a:t>
            </a:r>
            <a:r>
              <a:rPr lang="fr-FR" sz="3600" b="1" dirty="0">
                <a:solidFill>
                  <a:srgbClr val="FF0000"/>
                </a:solidFill>
              </a:rPr>
              <a:t>Une approche fondée sur les droits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3600" b="1" dirty="0">
                <a:solidFill>
                  <a:srgbClr val="FF0000"/>
                </a:solidFill>
              </a:rPr>
              <a:t>Une approche de démocratie sanitaire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dirty="0">
                <a:effectLst/>
              </a:rPr>
              <a:t>C- </a:t>
            </a:r>
            <a:r>
              <a:rPr lang="fr-FR" sz="3600" dirty="0">
                <a:solidFill>
                  <a:schemeClr val="tx1"/>
                </a:solidFill>
              </a:rPr>
              <a:t>Une approche fondée sur les obligations</a:t>
            </a:r>
            <a:endParaRPr lang="fr-FR" sz="3600" dirty="0">
              <a:effectLst/>
            </a:endParaRP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D- </a:t>
            </a:r>
            <a:r>
              <a:rPr lang="fr-FR" sz="3600" b="1" dirty="0">
                <a:solidFill>
                  <a:srgbClr val="FF0000"/>
                </a:solidFill>
              </a:rPr>
              <a:t>Une approche de renforcement du système de santé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2800" b="1" dirty="0">
                <a:solidFill>
                  <a:schemeClr val="bg1"/>
                </a:solidFill>
                <a:effectLst/>
              </a:rPr>
              <a:t>Q29- </a:t>
            </a:r>
            <a:r>
              <a:rPr lang="fr-FR" sz="2800" b="1" dirty="0"/>
              <a:t>Le plan de réorganisation et de développement des urgences médicales au Maroc comporte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4400" dirty="0">
                <a:solidFill>
                  <a:schemeClr val="tx1"/>
                </a:solidFill>
                <a:effectLst/>
              </a:rPr>
              <a:t>A- </a:t>
            </a:r>
            <a:r>
              <a:rPr lang="fr-FR" sz="4400" dirty="0">
                <a:solidFill>
                  <a:schemeClr val="tx1"/>
                </a:solidFill>
              </a:rPr>
              <a:t>3 objectifs et 8 mesures</a:t>
            </a:r>
            <a:endParaRPr lang="fr-FR" sz="440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r>
              <a:rPr lang="fr-FR" sz="44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4400" b="1" dirty="0">
                <a:solidFill>
                  <a:srgbClr val="FF0000"/>
                </a:solidFill>
              </a:rPr>
              <a:t>3 objectifs et 10 mesures</a:t>
            </a:r>
            <a:endParaRPr lang="fr-FR" sz="44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4400" dirty="0">
                <a:effectLst/>
              </a:rPr>
              <a:t>C- </a:t>
            </a:r>
            <a:r>
              <a:rPr lang="fr-FR" sz="4400" dirty="0">
                <a:solidFill>
                  <a:schemeClr val="tx1"/>
                </a:solidFill>
              </a:rPr>
              <a:t>4 objectifs et 8 mesures</a:t>
            </a:r>
            <a:endParaRPr lang="fr-FR" sz="4400" dirty="0">
              <a:effectLst/>
            </a:endParaRPr>
          </a:p>
          <a:p>
            <a:pPr>
              <a:buNone/>
            </a:pPr>
            <a:r>
              <a:rPr lang="fr-FR" sz="4400" dirty="0">
                <a:effectLst/>
              </a:rPr>
              <a:t>D- </a:t>
            </a:r>
            <a:r>
              <a:rPr lang="fr-FR" sz="4400" dirty="0">
                <a:solidFill>
                  <a:schemeClr val="tx1"/>
                </a:solidFill>
              </a:rPr>
              <a:t>4 objectifs et 10 mesures</a:t>
            </a:r>
            <a:endParaRPr lang="fr-FR" sz="4400" dirty="0"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sz="44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eaLnBrk="1" hangingPunct="1">
              <a:defRPr/>
            </a:pPr>
            <a:r>
              <a:rPr lang="fr-FR" sz="3600" b="1" dirty="0">
                <a:solidFill>
                  <a:schemeClr val="bg1"/>
                </a:solidFill>
                <a:effectLst/>
              </a:rPr>
              <a:t>Q30- </a:t>
            </a:r>
            <a:r>
              <a:rPr lang="fr-FR" sz="3600" b="1" dirty="0"/>
              <a:t>Selon le rapport de santé en chiffres 2014, l’indice synthétique de fécondité au Maroc est de </a:t>
            </a:r>
            <a:r>
              <a:rPr lang="fr-FR" sz="3600" b="1" dirty="0">
                <a:effectLst/>
              </a:rPr>
              <a:t>:</a:t>
            </a:r>
            <a:endParaRPr lang="fr-FR" sz="36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348880"/>
            <a:ext cx="8229600" cy="3782045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4000" dirty="0">
                <a:solidFill>
                  <a:schemeClr val="tx1"/>
                </a:solidFill>
                <a:effectLst/>
              </a:rPr>
              <a:t>A- </a:t>
            </a:r>
            <a:r>
              <a:rPr lang="fr-FR" sz="4000" dirty="0">
                <a:solidFill>
                  <a:schemeClr val="tx1"/>
                </a:solidFill>
              </a:rPr>
              <a:t>2,15</a:t>
            </a:r>
            <a:endParaRPr lang="fr-FR" sz="400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r>
              <a:rPr lang="fr-FR" sz="40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4000" b="1" dirty="0">
                <a:solidFill>
                  <a:srgbClr val="FF0000"/>
                </a:solidFill>
              </a:rPr>
              <a:t>2,59</a:t>
            </a:r>
            <a:endParaRPr lang="fr-FR" sz="40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4000" dirty="0">
                <a:effectLst/>
              </a:rPr>
              <a:t>C- </a:t>
            </a:r>
            <a:r>
              <a:rPr lang="fr-FR" sz="4000" dirty="0">
                <a:solidFill>
                  <a:schemeClr val="tx1"/>
                </a:solidFill>
              </a:rPr>
              <a:t>2,75</a:t>
            </a:r>
            <a:endParaRPr lang="fr-FR" sz="4000" dirty="0">
              <a:effectLst/>
            </a:endParaRPr>
          </a:p>
          <a:p>
            <a:pPr>
              <a:buNone/>
            </a:pPr>
            <a:r>
              <a:rPr lang="fr-FR" sz="4000" dirty="0">
                <a:effectLst/>
              </a:rPr>
              <a:t>D- </a:t>
            </a:r>
            <a:r>
              <a:rPr lang="fr-FR" sz="4000" dirty="0">
                <a:solidFill>
                  <a:schemeClr val="tx1"/>
                </a:solidFill>
              </a:rPr>
              <a:t>3,20 </a:t>
            </a:r>
            <a:endParaRPr lang="fr-FR" sz="4000" dirty="0"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sz="40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2143075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2400" dirty="0">
                <a:solidFill>
                  <a:schemeClr val="bg1"/>
                </a:solidFill>
                <a:effectLst/>
              </a:rPr>
              <a:t>Q31- </a:t>
            </a:r>
            <a:r>
              <a:rPr lang="fr-FR" sz="2400" dirty="0"/>
              <a:t>Dans le cadre de la carte sanitaire et du schéma régional de l’offre de soins, la création et l’implantation des infrastructures relevant du réseau de soins de santé primaire , en milieu urbain, doit répondre  aux besoins de la population selon les critères suivants</a:t>
            </a:r>
            <a:r>
              <a:rPr lang="fr-FR" sz="2400" dirty="0">
                <a:effectLst/>
              </a:rPr>
              <a:t>:</a:t>
            </a:r>
            <a:endParaRPr lang="fr-FR" sz="2400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564904"/>
            <a:ext cx="8208912" cy="4104456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>
              <a:buNone/>
            </a:pPr>
            <a:r>
              <a:rPr lang="fr-FR" sz="2800" dirty="0">
                <a:solidFill>
                  <a:schemeClr val="tx1"/>
                </a:solidFill>
                <a:effectLst/>
              </a:rPr>
              <a:t>A- </a:t>
            </a:r>
            <a:r>
              <a:rPr lang="fr-FR" sz="2800" dirty="0">
                <a:solidFill>
                  <a:schemeClr val="tx1"/>
                </a:solidFill>
              </a:rPr>
              <a:t>Un centre de santé urbain de 1</a:t>
            </a:r>
            <a:r>
              <a:rPr lang="fr-FR" sz="2800" baseline="30000" dirty="0">
                <a:solidFill>
                  <a:schemeClr val="tx1"/>
                </a:solidFill>
              </a:rPr>
              <a:t>er</a:t>
            </a:r>
            <a:r>
              <a:rPr lang="fr-FR" sz="2800" dirty="0">
                <a:solidFill>
                  <a:schemeClr val="tx1"/>
                </a:solidFill>
              </a:rPr>
              <a:t> niveau pour une population minimale de desserte de 15000 habitants</a:t>
            </a:r>
            <a:endParaRPr lang="fr-FR" sz="280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2800" b="1" dirty="0">
                <a:solidFill>
                  <a:srgbClr val="FF0000"/>
                </a:solidFill>
              </a:rPr>
              <a:t>Un centre de santé urbain de 1</a:t>
            </a:r>
            <a:r>
              <a:rPr lang="fr-FR" sz="2800" b="1" baseline="30000" dirty="0">
                <a:solidFill>
                  <a:srgbClr val="FF0000"/>
                </a:solidFill>
              </a:rPr>
              <a:t>er</a:t>
            </a:r>
            <a:r>
              <a:rPr lang="fr-FR" sz="2800" b="1" dirty="0">
                <a:solidFill>
                  <a:srgbClr val="FF0000"/>
                </a:solidFill>
              </a:rPr>
              <a:t> niveau pour une population minimale de desserte de 25000 habitants</a:t>
            </a:r>
            <a:endParaRPr lang="fr-FR" sz="28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2800" dirty="0">
                <a:effectLst/>
              </a:rPr>
              <a:t>C- </a:t>
            </a:r>
            <a:r>
              <a:rPr lang="fr-FR" sz="2800" dirty="0">
                <a:solidFill>
                  <a:schemeClr val="tx1"/>
                </a:solidFill>
              </a:rPr>
              <a:t>Un centre de santé urbain de 2</a:t>
            </a:r>
            <a:r>
              <a:rPr lang="fr-FR" sz="2800" baseline="30000" dirty="0">
                <a:solidFill>
                  <a:schemeClr val="tx1"/>
                </a:solidFill>
              </a:rPr>
              <a:t>éme</a:t>
            </a:r>
            <a:r>
              <a:rPr lang="fr-FR" sz="2800" dirty="0">
                <a:solidFill>
                  <a:schemeClr val="tx1"/>
                </a:solidFill>
              </a:rPr>
              <a:t> niveau pour une population minimale de desserte de 25000 habitants</a:t>
            </a:r>
            <a:endParaRPr lang="fr-FR" sz="2800" dirty="0">
              <a:effectLst/>
            </a:endParaRPr>
          </a:p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D- </a:t>
            </a:r>
            <a:r>
              <a:rPr lang="fr-FR" sz="2800" b="1" dirty="0">
                <a:solidFill>
                  <a:srgbClr val="FF0000"/>
                </a:solidFill>
              </a:rPr>
              <a:t>Un centre de santé urbain de 2</a:t>
            </a:r>
            <a:r>
              <a:rPr lang="fr-FR" sz="2800" b="1" baseline="30000" dirty="0">
                <a:solidFill>
                  <a:srgbClr val="FF0000"/>
                </a:solidFill>
              </a:rPr>
              <a:t>éme</a:t>
            </a:r>
            <a:r>
              <a:rPr lang="fr-FR" sz="2800" b="1" dirty="0">
                <a:solidFill>
                  <a:srgbClr val="FF0000"/>
                </a:solidFill>
              </a:rPr>
              <a:t> niveau pour une population minimale de desserte de 50000 habitants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Q32- </a:t>
            </a:r>
            <a:r>
              <a:rPr lang="fr-FR" sz="3200" b="1" dirty="0"/>
              <a:t>La 1</a:t>
            </a:r>
            <a:r>
              <a:rPr lang="fr-FR" sz="3200" b="1" baseline="30000" dirty="0"/>
              <a:t>ére</a:t>
            </a:r>
            <a:r>
              <a:rPr lang="fr-FR" sz="3200" b="1" dirty="0"/>
              <a:t> cause de mortalité au Maroc est représentée par  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A- </a:t>
            </a:r>
            <a:r>
              <a:rPr lang="fr-FR" dirty="0">
                <a:solidFill>
                  <a:schemeClr val="tx1"/>
                </a:solidFill>
              </a:rPr>
              <a:t>Les cancers.</a:t>
            </a:r>
            <a:endParaRPr lang="fr-FR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B- </a:t>
            </a:r>
            <a:r>
              <a:rPr lang="fr-FR" dirty="0">
                <a:solidFill>
                  <a:schemeClr val="tx1"/>
                </a:solidFill>
              </a:rPr>
              <a:t>Les maladies transmissibles.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C- </a:t>
            </a:r>
            <a:r>
              <a:rPr lang="fr-FR" b="1" dirty="0">
                <a:solidFill>
                  <a:srgbClr val="FF0000"/>
                </a:solidFill>
              </a:rPr>
              <a:t>Les maladies cardiovasculaires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effectLst/>
              </a:rPr>
              <a:t>D- </a:t>
            </a:r>
            <a:r>
              <a:rPr lang="fr-FR" dirty="0">
                <a:solidFill>
                  <a:schemeClr val="tx1"/>
                </a:solidFill>
              </a:rPr>
              <a:t>La tuberculeuse et les maladies respiratoires</a:t>
            </a:r>
            <a:endParaRPr lang="fr-FR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278979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Q33- </a:t>
            </a:r>
            <a:r>
              <a:rPr lang="fr-FR" sz="3200" b="1" dirty="0"/>
              <a:t>Selon la stratégie sectorielle de santé 2012-2016 , le développement de la santé en milieu rural repose sur les actions suivantes 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A- </a:t>
            </a:r>
            <a:r>
              <a:rPr lang="fr-FR" b="1" dirty="0">
                <a:solidFill>
                  <a:srgbClr val="FF0000"/>
                </a:solidFill>
              </a:rPr>
              <a:t>Renforcement de la stratégie de couverture sanitaire fixe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B- </a:t>
            </a:r>
            <a:r>
              <a:rPr lang="fr-FR" b="1" dirty="0">
                <a:solidFill>
                  <a:srgbClr val="FF0000"/>
                </a:solidFill>
              </a:rPr>
              <a:t>Renforcement de la couverture sanitaire mobile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effectLst/>
              </a:rPr>
              <a:t>C- </a:t>
            </a:r>
            <a:r>
              <a:rPr lang="fr-FR" dirty="0">
                <a:solidFill>
                  <a:schemeClr val="tx1"/>
                </a:solidFill>
              </a:rPr>
              <a:t>Renforcement de la couverture sanitaire par point de contact</a:t>
            </a:r>
            <a:endParaRPr lang="fr-FR" dirty="0">
              <a:effectLst/>
            </a:endParaRP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D- </a:t>
            </a:r>
            <a:r>
              <a:rPr lang="fr-FR" b="1" dirty="0">
                <a:solidFill>
                  <a:srgbClr val="FF0000"/>
                </a:solidFill>
              </a:rPr>
              <a:t>Développement de la participation communautaire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Q34- </a:t>
            </a:r>
            <a:r>
              <a:rPr lang="fr-FR" sz="3200" b="1" dirty="0"/>
              <a:t>Le réseau intégré des soins d’urgences médicales (RISUM) est organisé 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  <a:effectLst/>
              </a:rPr>
              <a:t>A- </a:t>
            </a:r>
            <a:r>
              <a:rPr lang="fr-FR" sz="3600" dirty="0">
                <a:solidFill>
                  <a:schemeClr val="tx1"/>
                </a:solidFill>
              </a:rPr>
              <a:t>En deux niveaux</a:t>
            </a:r>
            <a:endParaRPr lang="fr-FR" sz="360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3600" b="1" dirty="0">
                <a:solidFill>
                  <a:srgbClr val="FF0000"/>
                </a:solidFill>
              </a:rPr>
              <a:t>En trois niveaux 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dirty="0">
                <a:effectLst/>
              </a:rPr>
              <a:t>C- </a:t>
            </a:r>
            <a:r>
              <a:rPr lang="fr-FR" sz="3600" dirty="0">
                <a:solidFill>
                  <a:schemeClr val="tx1"/>
                </a:solidFill>
              </a:rPr>
              <a:t>En quatre niveaux</a:t>
            </a:r>
            <a:endParaRPr lang="fr-FR" sz="3600" dirty="0">
              <a:effectLst/>
            </a:endParaRP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En cinq niveaux</a:t>
            </a:r>
            <a:endParaRPr lang="fr-FR" sz="3600" dirty="0"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sz="3600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Q35- </a:t>
            </a:r>
            <a:r>
              <a:rPr lang="fr-FR" sz="3200" b="1" dirty="0"/>
              <a:t>Selon le rapport de santé en chiffres 2014, l’espérance de vie à la naissance au Maroc 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4000" dirty="0">
                <a:solidFill>
                  <a:schemeClr val="tx1"/>
                </a:solidFill>
                <a:effectLst/>
              </a:rPr>
              <a:t>A- </a:t>
            </a:r>
            <a:r>
              <a:rPr lang="fr-FR" sz="4000" dirty="0">
                <a:solidFill>
                  <a:schemeClr val="tx1"/>
                </a:solidFill>
              </a:rPr>
              <a:t>75,4 ans</a:t>
            </a:r>
            <a:endParaRPr lang="fr-FR" sz="400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r>
              <a:rPr lang="fr-FR" sz="4000" dirty="0">
                <a:solidFill>
                  <a:schemeClr val="tx1"/>
                </a:solidFill>
                <a:effectLst/>
              </a:rPr>
              <a:t>B- </a:t>
            </a:r>
            <a:r>
              <a:rPr lang="fr-FR" sz="4000" dirty="0">
                <a:solidFill>
                  <a:schemeClr val="tx1"/>
                </a:solidFill>
              </a:rPr>
              <a:t>76,5 ans</a:t>
            </a:r>
            <a:endParaRPr lang="fr-FR" sz="40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4000" b="1" dirty="0">
                <a:solidFill>
                  <a:srgbClr val="FF0000"/>
                </a:solidFill>
                <a:effectLst/>
              </a:rPr>
              <a:t>C- </a:t>
            </a:r>
            <a:r>
              <a:rPr lang="fr-FR" sz="4000" b="1" dirty="0">
                <a:solidFill>
                  <a:srgbClr val="FF0000"/>
                </a:solidFill>
              </a:rPr>
              <a:t>77,3 ans ?</a:t>
            </a:r>
            <a:endParaRPr lang="fr-FR" sz="40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4000" dirty="0">
                <a:effectLst/>
              </a:rPr>
              <a:t>D- </a:t>
            </a:r>
            <a:r>
              <a:rPr lang="fr-FR" sz="4000" dirty="0">
                <a:solidFill>
                  <a:schemeClr val="tx1"/>
                </a:solidFill>
              </a:rPr>
              <a:t>79,4 ans</a:t>
            </a:r>
          </a:p>
          <a:p>
            <a:pPr>
              <a:buNone/>
            </a:pPr>
            <a:r>
              <a:rPr lang="fr-FR" sz="4000" b="1" dirty="0">
                <a:solidFill>
                  <a:srgbClr val="0070C0"/>
                </a:solidFill>
              </a:rPr>
              <a:t>N.B/ La réponse juste est 74,8 la plus proche des réponses est C = 77,3 ans concerne le milieu urbain</a:t>
            </a:r>
          </a:p>
          <a:p>
            <a:pPr>
              <a:buNone/>
            </a:pPr>
            <a:endParaRPr lang="fr-FR" sz="4000" dirty="0"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Q36- </a:t>
            </a:r>
            <a:r>
              <a:rPr lang="fr-FR" sz="3200" b="1" dirty="0"/>
              <a:t>En souscrivant aux Objectifs du Millénaire pour le Développement, le Maroc s’est engagé à réduire , à l’horizon 2015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2800" dirty="0">
                <a:solidFill>
                  <a:schemeClr val="tx1"/>
                </a:solidFill>
                <a:effectLst/>
              </a:rPr>
              <a:t>A- </a:t>
            </a:r>
            <a:r>
              <a:rPr lang="fr-FR" sz="2800" dirty="0">
                <a:solidFill>
                  <a:schemeClr val="tx1"/>
                </a:solidFill>
              </a:rPr>
              <a:t>De deux tiers la mortalité maternelle et de trois quarts la mortalité des enfants de moins de 5 ans</a:t>
            </a:r>
            <a:endParaRPr lang="fr-FR" sz="2800" dirty="0">
              <a:solidFill>
                <a:schemeClr val="tx1"/>
              </a:solidFill>
              <a:effectLst/>
            </a:endParaRPr>
          </a:p>
          <a:p>
            <a:pPr>
              <a:buNone/>
            </a:pPr>
            <a:r>
              <a:rPr lang="fr-FR" sz="2800" dirty="0">
                <a:solidFill>
                  <a:schemeClr val="tx1"/>
                </a:solidFill>
                <a:effectLst/>
              </a:rPr>
              <a:t>B- </a:t>
            </a:r>
            <a:r>
              <a:rPr lang="fr-FR" sz="2800" dirty="0">
                <a:solidFill>
                  <a:schemeClr val="tx1"/>
                </a:solidFill>
              </a:rPr>
              <a:t>De moitié la mortalité maternelle et de deux tiers la mortalité des enfants de moins de 5 ans</a:t>
            </a:r>
            <a:endParaRPr lang="fr-FR" sz="28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2800" b="1" dirty="0">
                <a:solidFill>
                  <a:srgbClr val="FF0000"/>
                </a:solidFill>
                <a:effectLst/>
              </a:rPr>
              <a:t>C- </a:t>
            </a:r>
            <a:r>
              <a:rPr lang="fr-FR" sz="2800" b="1" dirty="0">
                <a:solidFill>
                  <a:srgbClr val="FF0000"/>
                </a:solidFill>
              </a:rPr>
              <a:t>De trois quarts la mortalité maternelle et de deux tiers la mortalité des enfants de moins de 5 ans</a:t>
            </a:r>
            <a:endParaRPr lang="fr-FR" sz="28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2800" dirty="0">
                <a:effectLst/>
              </a:rPr>
              <a:t>D- </a:t>
            </a:r>
            <a:r>
              <a:rPr lang="fr-FR" sz="2800" dirty="0">
                <a:solidFill>
                  <a:schemeClr val="tx1"/>
                </a:solidFill>
              </a:rPr>
              <a:t>De trois quarts la mortalité maternelle et de moitié la mortalité des enfants de moins de 5 ans</a:t>
            </a:r>
            <a:r>
              <a:rPr lang="fr-FR" dirty="0">
                <a:solidFill>
                  <a:srgbClr val="FF0000"/>
                </a:solidFill>
                <a:effectLst/>
              </a:rPr>
              <a:t> 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Q37- </a:t>
            </a:r>
            <a:r>
              <a:rPr lang="fr-FR" sz="3200" b="1" dirty="0"/>
              <a:t>La consommation moyenne mensuelle est une méthode d’estimation des besoins en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</a:rPr>
              <a:t>A- Produits pharmaceutiques</a:t>
            </a: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  <a:effectLst/>
              </a:rPr>
              <a:t>B- </a:t>
            </a:r>
            <a:r>
              <a:rPr lang="fr-FR" sz="3600" dirty="0">
                <a:solidFill>
                  <a:schemeClr val="tx1"/>
                </a:solidFill>
              </a:rPr>
              <a:t>Matériel </a:t>
            </a:r>
            <a:r>
              <a:rPr lang="fr-FR" sz="3600" dirty="0" err="1">
                <a:solidFill>
                  <a:schemeClr val="tx1"/>
                </a:solidFill>
              </a:rPr>
              <a:t>médico</a:t>
            </a:r>
            <a:r>
              <a:rPr lang="fr-FR" sz="3600" dirty="0">
                <a:solidFill>
                  <a:schemeClr val="tx1"/>
                </a:solidFill>
              </a:rPr>
              <a:t>-technique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C- Ressources humaines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Ressources financières</a:t>
            </a:r>
            <a:endParaRPr lang="fr-FR" sz="3600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Q38- Lequel des axes stratégiques suivants ne fait pas partie de la stratégie sectorielle de santé 2012-2016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A- Amélioration de l’accès aux soins et de l’organisation des services </a:t>
            </a: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  <a:effectLst/>
              </a:rPr>
              <a:t>B- </a:t>
            </a:r>
            <a:r>
              <a:rPr lang="fr-FR" sz="3600" dirty="0">
                <a:solidFill>
                  <a:schemeClr val="tx1"/>
                </a:solidFill>
              </a:rPr>
              <a:t>Promotion de la santé des populations à besoins spécifiques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</a:rPr>
              <a:t>C- Développement du contrôle des maladies transmissibles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Amélioration de la gouvernance du système de santé</a:t>
            </a:r>
            <a:endParaRPr lang="fr-FR" sz="3600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Q39- Les urgences </a:t>
            </a:r>
            <a:r>
              <a:rPr lang="fr-FR" sz="3200" b="1" dirty="0" err="1">
                <a:solidFill>
                  <a:schemeClr val="bg1"/>
                </a:solidFill>
                <a:effectLst/>
              </a:rPr>
              <a:t>médico</a:t>
            </a:r>
            <a:r>
              <a:rPr lang="fr-FR" sz="3200" b="1" dirty="0">
                <a:solidFill>
                  <a:schemeClr val="bg1"/>
                </a:solidFill>
                <a:effectLst/>
              </a:rPr>
              <a:t>-hospitalières de base représentent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A- Le 1</a:t>
            </a:r>
            <a:r>
              <a:rPr lang="fr-FR" sz="3600" baseline="30000" dirty="0">
                <a:solidFill>
                  <a:schemeClr val="tx1"/>
                </a:solidFill>
              </a:rPr>
              <a:t>er</a:t>
            </a:r>
            <a:r>
              <a:rPr lang="fr-FR" sz="3600" dirty="0">
                <a:solidFill>
                  <a:schemeClr val="tx1"/>
                </a:solidFill>
              </a:rPr>
              <a:t> niveau du réseau intégré des soins d’urgences médicales</a:t>
            </a: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3600" b="1" dirty="0">
                <a:solidFill>
                  <a:srgbClr val="FF0000"/>
                </a:solidFill>
              </a:rPr>
              <a:t>Le 2</a:t>
            </a:r>
            <a:r>
              <a:rPr lang="fr-FR" sz="3600" b="1" baseline="30000" dirty="0">
                <a:solidFill>
                  <a:srgbClr val="FF0000"/>
                </a:solidFill>
              </a:rPr>
              <a:t>éme</a:t>
            </a:r>
            <a:r>
              <a:rPr lang="fr-FR" sz="3600" b="1" dirty="0">
                <a:solidFill>
                  <a:srgbClr val="FF0000"/>
                </a:solidFill>
              </a:rPr>
              <a:t> niveau du réseau intégré des soins d’urgences médicales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C- Le 3</a:t>
            </a:r>
            <a:r>
              <a:rPr lang="fr-FR" sz="3600" baseline="30000" dirty="0">
                <a:solidFill>
                  <a:schemeClr val="tx1"/>
                </a:solidFill>
              </a:rPr>
              <a:t>éme</a:t>
            </a:r>
            <a:r>
              <a:rPr lang="fr-FR" sz="3600" dirty="0">
                <a:solidFill>
                  <a:schemeClr val="tx1"/>
                </a:solidFill>
              </a:rPr>
              <a:t> niveau du réseau intégré des soins d’urgences médicales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Le 4</a:t>
            </a:r>
            <a:r>
              <a:rPr lang="fr-FR" sz="3600" baseline="30000" dirty="0">
                <a:solidFill>
                  <a:schemeClr val="tx1"/>
                </a:solidFill>
              </a:rPr>
              <a:t>éme</a:t>
            </a:r>
            <a:r>
              <a:rPr lang="fr-FR" sz="3600" dirty="0">
                <a:solidFill>
                  <a:schemeClr val="tx1"/>
                </a:solidFill>
              </a:rPr>
              <a:t> niveau du réseau intégré des soins d’urgences médicales</a:t>
            </a:r>
            <a:endParaRPr lang="fr-FR" sz="3600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Q40- Selon le rapport de santé en chiffres 2014, le taux d’occupation moyen des hôpitaux publics est de 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A- 61,6%</a:t>
            </a: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  <a:effectLst/>
              </a:rPr>
              <a:t>B- </a:t>
            </a:r>
            <a:r>
              <a:rPr lang="fr-FR" sz="3600" dirty="0">
                <a:solidFill>
                  <a:schemeClr val="tx1"/>
                </a:solidFill>
              </a:rPr>
              <a:t>62,6%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</a:rPr>
              <a:t>C- 63,6% 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64,6%</a:t>
            </a:r>
            <a:endParaRPr lang="fr-FR" sz="3600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Q41- Selon la stratégie sectorielle de santé 2012-2016 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A- Trois provinces ne disposent pas encore d’hôpitaux</a:t>
            </a: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3600" b="1" dirty="0">
                <a:solidFill>
                  <a:srgbClr val="FF0000"/>
                </a:solidFill>
              </a:rPr>
              <a:t>Quatre provinces ne disposent pas encore d’hôpitaux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C- Cinq provinces ne disposent pas encore d’hôpitaux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Six provinces ne disposent pas encore d’hôpitaux</a:t>
            </a:r>
            <a:endParaRPr lang="fr-FR" sz="3600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Q42- Les résultats attendus du plan national de prévention et du contrôle du cancer dans le domaine de prévention est de 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A- Réduire de 20% la prévalence des risques comportementaux et environnementaux.</a:t>
            </a: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</a:rPr>
              <a:t>B- Réduire de 30% la prévalence des risques comportementaux et environnementaux.</a:t>
            </a: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C- Réduire de 40% la prévalence des risques comportementaux et environnementaux.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Réduire de 50% la prévalence des risques comportementaux et environnementaux.</a:t>
            </a:r>
            <a:endParaRPr lang="fr-FR" sz="3600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Q43- Dans le découpage sanitaire national, les territoires de santé sont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</a:rPr>
              <a:t>A- Des circonscriptions sanitaires.</a:t>
            </a: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3600" b="1" dirty="0">
                <a:solidFill>
                  <a:srgbClr val="FF0000"/>
                </a:solidFill>
              </a:rPr>
              <a:t>Des préfectures et provinces sanitaires.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</a:rPr>
              <a:t>C- Des régions sanitaires.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Des structures centrales</a:t>
            </a:r>
            <a:endParaRPr lang="fr-FR" sz="3600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Q44- Pour les bénéficiaires du RAMED, la contribution concerne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832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</a:rPr>
              <a:t>A- Seulement la population en situation de vulnérabilité.</a:t>
            </a: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  <a:effectLst/>
              </a:rPr>
              <a:t>B- </a:t>
            </a:r>
            <a:r>
              <a:rPr lang="fr-FR" sz="3600" dirty="0">
                <a:solidFill>
                  <a:schemeClr val="tx1"/>
                </a:solidFill>
              </a:rPr>
              <a:t>Seulement la population en situation de pauvreté.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C- la population en situation de pauvreté et de vulnérabilité .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Aucune réponse n’est juste</a:t>
            </a:r>
            <a:endParaRPr lang="fr-FR" sz="3600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Q45- Lequel/lesquels  des établissements suivants ne fait/ne font pas partie du réseau hospitalier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700808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A- Centre d’hémodialyse.</a:t>
            </a: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  <a:effectLst/>
              </a:rPr>
              <a:t>B- </a:t>
            </a:r>
            <a:r>
              <a:rPr lang="fr-FR" sz="3600" dirty="0">
                <a:solidFill>
                  <a:schemeClr val="tx1"/>
                </a:solidFill>
              </a:rPr>
              <a:t>Hôpitaux psychiatriques.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</a:rPr>
              <a:t>C- Centres régionaux de rééducation .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Centres régionaux d’oncologie</a:t>
            </a:r>
            <a:endParaRPr lang="fr-FR" sz="3600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Q46- L’offre de soins en mode fixe dans le secteur public est composée de 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700808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A- Deux réseaux d’établissements de santé</a:t>
            </a: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  <a:effectLst/>
              </a:rPr>
              <a:t>B- </a:t>
            </a:r>
            <a:r>
              <a:rPr lang="fr-FR" sz="3600" dirty="0">
                <a:solidFill>
                  <a:schemeClr val="tx1"/>
                </a:solidFill>
              </a:rPr>
              <a:t>Trois réseaux d’établissements de santé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</a:rPr>
              <a:t>C- Quatre  réseaux d’établissements de santé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Cinq réseaux d’établissements de santé</a:t>
            </a:r>
            <a:endParaRPr lang="fr-FR" sz="3600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495003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fr-FR" sz="3200" b="1" dirty="0">
                <a:solidFill>
                  <a:schemeClr val="bg1"/>
                </a:solidFill>
                <a:effectLst/>
              </a:rPr>
              <a:t>Q47- Selon le rapport santé en chiffres 2014, la couverture vaccinale globale des enfants âgés de 12 à 23 mois est de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700808"/>
            <a:ext cx="8229600" cy="4214093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A- 92,5%</a:t>
            </a: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3600" b="1" dirty="0">
                <a:solidFill>
                  <a:srgbClr val="FF0000"/>
                </a:solidFill>
              </a:rPr>
              <a:t>93,5%  ?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C- 94,5%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95,5%</a:t>
            </a:r>
            <a:endParaRPr lang="fr-FR" sz="3600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fr-FR" b="1" dirty="0">
                <a:solidFill>
                  <a:srgbClr val="0070C0"/>
                </a:solidFill>
              </a:rPr>
              <a:t>N.B/ La réponse juste est 87,7 la plus proche des réponses est B = 93,5% concerne le milieu urbain</a:t>
            </a: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2800" b="1" dirty="0">
                <a:solidFill>
                  <a:schemeClr val="bg1"/>
                </a:solidFill>
                <a:effectLst/>
              </a:rPr>
              <a:t>Q48- Les urgences médicales de proximité faisant partie du réseau intégré des soins d’urgences médicales assurent les fonctions d’urgence suivantes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2132856"/>
            <a:ext cx="8085584" cy="3782045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A- Les gestes de réanimation</a:t>
            </a: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3600" b="1" dirty="0">
                <a:solidFill>
                  <a:srgbClr val="FF0000"/>
                </a:solidFill>
              </a:rPr>
              <a:t>Les gestes de premiers secours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C- La transfusion</a:t>
            </a: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D- </a:t>
            </a:r>
            <a:r>
              <a:rPr lang="fr-FR" sz="3600" b="1" dirty="0">
                <a:solidFill>
                  <a:srgbClr val="FF0000"/>
                </a:solidFill>
              </a:rPr>
              <a:t>Le diagnostic de détresse vitale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Q49- Selon le rapport santé en chiffres 2014, la durée moyenne des hôpitaux publics est de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2132856"/>
            <a:ext cx="8085584" cy="3782045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A- Trois jours</a:t>
            </a: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3600" b="1" dirty="0">
                <a:solidFill>
                  <a:srgbClr val="FF0000"/>
                </a:solidFill>
              </a:rPr>
              <a:t>Quatre jours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C- Cinq jours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Six jours</a:t>
            </a:r>
            <a:endParaRPr lang="fr-FR" sz="3600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Q50- Les résultats attendus du plan national de prévention et de contrôle du cancer dans le domaine de prise en charge diagnostique et thérapeutique est de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2132856"/>
            <a:ext cx="8085584" cy="3782045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A- Guérir 30% des patients pris en charge</a:t>
            </a: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  <a:effectLst/>
              </a:rPr>
              <a:t>B- </a:t>
            </a:r>
            <a:r>
              <a:rPr lang="fr-FR" sz="3600" dirty="0">
                <a:solidFill>
                  <a:schemeClr val="tx1"/>
                </a:solidFill>
              </a:rPr>
              <a:t>Guérir 40% des patients pris en charge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</a:rPr>
              <a:t>C- Guérir 50% des patients pris en charge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Guérir 60% des patients pris en charge</a:t>
            </a:r>
            <a:endParaRPr lang="fr-FR" sz="3600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Q51- En 2013, le budget global du Ministère de la Santé représente 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2132856"/>
            <a:ext cx="8085584" cy="3782045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A- 1,1% du produit intérieur brut.</a:t>
            </a: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  <a:effectLst/>
              </a:rPr>
              <a:t>B- </a:t>
            </a:r>
            <a:r>
              <a:rPr lang="fr-FR" sz="3600" dirty="0">
                <a:solidFill>
                  <a:schemeClr val="tx1"/>
                </a:solidFill>
              </a:rPr>
              <a:t>1,2% du produit intérieur brut.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C- 1,3% du produit intérieur brut.</a:t>
            </a: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  <a:effectLst/>
              </a:rPr>
              <a:t>D- </a:t>
            </a:r>
            <a:r>
              <a:rPr lang="fr-FR" sz="3600" b="1" dirty="0">
                <a:solidFill>
                  <a:srgbClr val="FF0000"/>
                </a:solidFill>
              </a:rPr>
              <a:t>1,4% du produit intérieur brut.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3600" b="1" dirty="0">
                <a:solidFill>
                  <a:schemeClr val="bg1"/>
                </a:solidFill>
              </a:rPr>
              <a:t>Q52- En 2010, les dépenses globales de santé ont atteint</a:t>
            </a:r>
            <a:r>
              <a:rPr lang="fr-FR" sz="3600" b="1" dirty="0">
                <a:effectLst/>
              </a:rPr>
              <a:t>:</a:t>
            </a:r>
            <a:endParaRPr lang="fr-FR" sz="36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2132856"/>
            <a:ext cx="8085584" cy="3782045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A- 43,7% milliards de DH.</a:t>
            </a: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  <a:effectLst/>
              </a:rPr>
              <a:t>B- </a:t>
            </a:r>
            <a:r>
              <a:rPr lang="fr-FR" sz="3600" dirty="0">
                <a:solidFill>
                  <a:schemeClr val="tx1"/>
                </a:solidFill>
              </a:rPr>
              <a:t>45,7% milliards de DH.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</a:rPr>
              <a:t>C- 47,7% milliards de DH.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49,7% milliards de DH.</a:t>
            </a:r>
            <a:endParaRPr lang="fr-FR" sz="3600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Q53- Selon les comptes nationaux  2010, les paiements directs des ménages ont représenté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132856"/>
            <a:ext cx="8280920" cy="417646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A- 53,6% des dépenses des ménages pour la santé.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B- </a:t>
            </a:r>
            <a:r>
              <a:rPr lang="fr-FR" dirty="0">
                <a:solidFill>
                  <a:schemeClr val="tx1"/>
                </a:solidFill>
              </a:rPr>
              <a:t>54,7% des dépenses des ménages pour la santé.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C- 57,3% des dépenses des ménages pour la santé.</a:t>
            </a:r>
          </a:p>
          <a:p>
            <a:pPr>
              <a:buNone/>
            </a:pPr>
            <a:r>
              <a:rPr lang="fr-FR" dirty="0">
                <a:effectLst/>
              </a:rPr>
              <a:t>D- </a:t>
            </a:r>
            <a:r>
              <a:rPr lang="fr-FR" dirty="0">
                <a:solidFill>
                  <a:schemeClr val="tx1"/>
                </a:solidFill>
              </a:rPr>
              <a:t>61,3% des dépenses des ménages pour la santé.</a:t>
            </a:r>
            <a:endParaRPr lang="fr-FR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3600" b="1" dirty="0">
                <a:solidFill>
                  <a:schemeClr val="bg1"/>
                </a:solidFill>
              </a:rPr>
              <a:t>Q54- Les maladies non transmissibles représentent </a:t>
            </a:r>
            <a:r>
              <a:rPr lang="fr-FR" sz="3600" b="1" dirty="0">
                <a:effectLst/>
              </a:rPr>
              <a:t>:</a:t>
            </a:r>
            <a:endParaRPr lang="fr-FR" sz="36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132856"/>
            <a:ext cx="8280920" cy="417646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A- 52% de la charge de morbidité générale.</a:t>
            </a: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  <a:effectLst/>
              </a:rPr>
              <a:t>B- </a:t>
            </a:r>
            <a:r>
              <a:rPr lang="fr-FR" sz="3600" dirty="0">
                <a:solidFill>
                  <a:schemeClr val="tx1"/>
                </a:solidFill>
              </a:rPr>
              <a:t>54% de la charge de morbidité générale.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</a:rPr>
              <a:t>C- 56% de la charge de morbidité générale.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58% de la charge de morbidité générale.</a:t>
            </a:r>
            <a:endParaRPr lang="fr-FR" sz="3600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sz="3600" dirty="0"/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3200" b="1" dirty="0">
                <a:solidFill>
                  <a:schemeClr val="bg1"/>
                </a:solidFill>
              </a:rPr>
              <a:t>Q55- La stratégie du plan national de prévention et de contrôle de cancer repose sur les domaines suivants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132856"/>
            <a:ext cx="8280920" cy="417646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A- La prévention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B- </a:t>
            </a:r>
            <a:r>
              <a:rPr lang="fr-FR" b="1" dirty="0">
                <a:solidFill>
                  <a:srgbClr val="FF0000"/>
                </a:solidFill>
              </a:rPr>
              <a:t>La détection précoce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C- la prise en charge diagnostique et thérapeutique</a:t>
            </a:r>
          </a:p>
          <a:p>
            <a:pPr>
              <a:buNone/>
            </a:pPr>
            <a:r>
              <a:rPr lang="fr-FR" dirty="0">
                <a:effectLst/>
              </a:rPr>
              <a:t>D- </a:t>
            </a:r>
            <a:r>
              <a:rPr lang="fr-FR" dirty="0">
                <a:solidFill>
                  <a:schemeClr val="tx1"/>
                </a:solidFill>
              </a:rPr>
              <a:t>les soins de base et les soins palliatifs</a:t>
            </a:r>
            <a:endParaRPr lang="fr-FR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5098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Q56- Le financement du régime d’assistance médicale (</a:t>
            </a:r>
            <a:r>
              <a:rPr lang="fr-FR" sz="2800" b="1" dirty="0" err="1">
                <a:solidFill>
                  <a:schemeClr val="bg1"/>
                </a:solidFill>
              </a:rPr>
              <a:t>RAMed</a:t>
            </a:r>
            <a:r>
              <a:rPr lang="fr-FR" sz="2800" b="1" dirty="0">
                <a:solidFill>
                  <a:schemeClr val="bg1"/>
                </a:solidFill>
              </a:rPr>
              <a:t>) est assurée par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772816"/>
            <a:ext cx="8280920" cy="4824536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A- L’Etat (76%), les collectivités locales (19%), la cotisation des bénéficiaires (5%)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B- </a:t>
            </a:r>
            <a:r>
              <a:rPr lang="fr-FR" dirty="0">
                <a:solidFill>
                  <a:schemeClr val="tx1"/>
                </a:solidFill>
              </a:rPr>
              <a:t>L’Etat (74%), les collectivités locales (21%), la cotisation des bénéficiaires (5%)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L’Etat (74%), les collectivités locales (20%), la cotisation des bénéficiaires (6%)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D- </a:t>
            </a:r>
            <a:r>
              <a:rPr lang="fr-FR" b="1" dirty="0">
                <a:solidFill>
                  <a:srgbClr val="FF0000"/>
                </a:solidFill>
              </a:rPr>
              <a:t>L’Etat (75%), les collectivités locales (19%), la cotisation des bénéficiaires (6%)</a:t>
            </a:r>
          </a:p>
          <a:p>
            <a:pPr>
              <a:buNone/>
            </a:pPr>
            <a:r>
              <a:rPr lang="fr-FR" b="1" dirty="0">
                <a:solidFill>
                  <a:srgbClr val="0070C0"/>
                </a:solidFill>
              </a:rPr>
              <a:t>N.B: Données selon les données de l’évaluation de la généralisation</a:t>
            </a:r>
          </a:p>
          <a:p>
            <a:pPr>
              <a:buNone/>
            </a:pPr>
            <a:endParaRPr lang="fr-FR" b="1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Q57- Le régime d’assistance médicale (</a:t>
            </a:r>
            <a:r>
              <a:rPr lang="fr-FR" sz="2800" b="1" dirty="0" err="1">
                <a:solidFill>
                  <a:schemeClr val="bg1"/>
                </a:solidFill>
              </a:rPr>
              <a:t>RAMed</a:t>
            </a:r>
            <a:r>
              <a:rPr lang="fr-FR" sz="2800" b="1" dirty="0">
                <a:solidFill>
                  <a:schemeClr val="bg1"/>
                </a:solidFill>
              </a:rPr>
              <a:t>) cible la couverture de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132856"/>
            <a:ext cx="8280920" cy="417646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A- 7,5 millions de citoyen en situation de pauvreté ou de vulnérabilité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B- </a:t>
            </a:r>
            <a:r>
              <a:rPr lang="fr-FR" dirty="0">
                <a:solidFill>
                  <a:schemeClr val="tx1"/>
                </a:solidFill>
              </a:rPr>
              <a:t>8 millions de citoyen en situation de pauvreté ou de vulnérabilité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C- 8,5 millions de citoyen en situation de pauvreté ou de vulnérabilité</a:t>
            </a:r>
          </a:p>
          <a:p>
            <a:pPr>
              <a:buNone/>
            </a:pPr>
            <a:r>
              <a:rPr lang="fr-FR" dirty="0">
                <a:effectLst/>
              </a:rPr>
              <a:t>D- </a:t>
            </a:r>
            <a:r>
              <a:rPr lang="fr-FR" dirty="0">
                <a:solidFill>
                  <a:schemeClr val="tx1"/>
                </a:solidFill>
              </a:rPr>
              <a:t>9 millions de citoyen en situation de pauvreté ou de vulnérabilité</a:t>
            </a:r>
            <a:endParaRPr lang="fr-FR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3600" b="1" dirty="0">
                <a:solidFill>
                  <a:schemeClr val="bg1"/>
                </a:solidFill>
              </a:rPr>
              <a:t>Q58- Le Schéma Régional de l’Offre de Soins(SROS) </a:t>
            </a:r>
            <a:r>
              <a:rPr lang="fr-FR" sz="3600" b="1" dirty="0">
                <a:effectLst/>
              </a:rPr>
              <a:t>:</a:t>
            </a:r>
            <a:endParaRPr lang="fr-FR" sz="36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132856"/>
            <a:ext cx="8280920" cy="417646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A- Est considéré comme une approche quantitative de régulation de l’offre de soins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B- </a:t>
            </a:r>
            <a:r>
              <a:rPr lang="fr-FR" b="1" dirty="0">
                <a:solidFill>
                  <a:srgbClr val="FF0000"/>
                </a:solidFill>
              </a:rPr>
              <a:t>est construit sur la base de l’analyse des besoins de santé de la population et leurs tendances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Définit les besoins en infrastructures , en moyens et en activités de soins</a:t>
            </a:r>
          </a:p>
          <a:p>
            <a:pPr>
              <a:buNone/>
            </a:pPr>
            <a:r>
              <a:rPr lang="fr-FR" dirty="0">
                <a:effectLst/>
              </a:rPr>
              <a:t>D- </a:t>
            </a:r>
            <a:r>
              <a:rPr lang="fr-FR" dirty="0">
                <a:solidFill>
                  <a:schemeClr val="tx1"/>
                </a:solidFill>
              </a:rPr>
              <a:t>Est considéré comme une approche quantitative de régulation de l’offre de soins </a:t>
            </a:r>
            <a:endParaRPr lang="fr-FR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3200" b="1" dirty="0">
                <a:solidFill>
                  <a:schemeClr val="bg1"/>
                </a:solidFill>
              </a:rPr>
              <a:t>Q59- L’élaboration du Schéma Régional de l’Offre de Soins repose sur les principes suivants 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2132856"/>
            <a:ext cx="8280920" cy="417646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4000" b="1" dirty="0">
                <a:solidFill>
                  <a:srgbClr val="FF0000"/>
                </a:solidFill>
              </a:rPr>
              <a:t>A- La globalité</a:t>
            </a:r>
          </a:p>
          <a:p>
            <a:pPr>
              <a:buNone/>
            </a:pPr>
            <a:r>
              <a:rPr lang="fr-FR" sz="4000" b="1" dirty="0">
                <a:solidFill>
                  <a:srgbClr val="FF0000"/>
                </a:solidFill>
                <a:effectLst/>
              </a:rPr>
              <a:t>B- </a:t>
            </a:r>
            <a:r>
              <a:rPr lang="fr-FR" sz="4000" b="1" dirty="0">
                <a:solidFill>
                  <a:srgbClr val="FF0000"/>
                </a:solidFill>
              </a:rPr>
              <a:t>L’intégration</a:t>
            </a:r>
            <a:endParaRPr lang="fr-FR" sz="40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4000" dirty="0">
                <a:solidFill>
                  <a:schemeClr val="tx1"/>
                </a:solidFill>
              </a:rPr>
              <a:t>C- La fiabilité</a:t>
            </a:r>
          </a:p>
          <a:p>
            <a:pPr>
              <a:buNone/>
            </a:pPr>
            <a:r>
              <a:rPr lang="fr-FR" sz="4000" dirty="0">
                <a:solidFill>
                  <a:schemeClr val="tx1"/>
                </a:solidFill>
                <a:effectLst/>
              </a:rPr>
              <a:t>D- </a:t>
            </a:r>
            <a:r>
              <a:rPr lang="fr-FR" sz="4000" dirty="0">
                <a:solidFill>
                  <a:schemeClr val="tx1"/>
                </a:solidFill>
              </a:rPr>
              <a:t>L’accessibilité</a:t>
            </a:r>
            <a:endParaRPr lang="fr-FR" sz="4000" dirty="0">
              <a:solidFill>
                <a:schemeClr val="tx1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sz="4000" dirty="0"/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Q60- Le processus théorique d’élaboration du Schéma Régional de l’Offre de Soins peut être résumé en trois étapes essentielles, qui sont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132856"/>
            <a:ext cx="8280920" cy="417646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A- L’identification des problèmes et la fixation des grandes orientations 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B- </a:t>
            </a:r>
            <a:r>
              <a:rPr lang="fr-FR" b="1" dirty="0">
                <a:solidFill>
                  <a:srgbClr val="FF0000"/>
                </a:solidFill>
              </a:rPr>
              <a:t>La mobilisation des ressources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La fixation des priorités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D- </a:t>
            </a:r>
            <a:r>
              <a:rPr lang="fr-FR" b="1" dirty="0">
                <a:solidFill>
                  <a:srgbClr val="FF0000"/>
                </a:solidFill>
              </a:rPr>
              <a:t>La détermination des mesures à prendre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Q61- Le plan stratégique régional est un document d’orientation des actions sanitaires de la région, il comprend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132856"/>
            <a:ext cx="8280920" cy="417646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A- Une étape d’analyse de situation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B- </a:t>
            </a:r>
            <a:r>
              <a:rPr lang="fr-FR" dirty="0">
                <a:solidFill>
                  <a:schemeClr val="tx1"/>
                </a:solidFill>
              </a:rPr>
              <a:t>Une étape de formulation politique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Une étape de formulation tactique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D- </a:t>
            </a:r>
            <a:r>
              <a:rPr lang="fr-FR" b="1" dirty="0">
                <a:solidFill>
                  <a:srgbClr val="FF0000"/>
                </a:solidFill>
              </a:rPr>
              <a:t>Une étape de formulation stratégique</a:t>
            </a:r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Q62- Le plan régional de couverture sanitaire a pour objectif de déterminer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132856"/>
            <a:ext cx="8280920" cy="417646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A- La répartition géographique des infrastructures et des équipements lourds de santé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B- </a:t>
            </a:r>
            <a:r>
              <a:rPr lang="fr-FR" b="1" dirty="0">
                <a:solidFill>
                  <a:srgbClr val="FF0000"/>
                </a:solidFill>
              </a:rPr>
              <a:t>La répartition géographique des ressources humaines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C- Les liaisons, la coopération et la complémentarité entre les établissements de santé et entre les secteurs. </a:t>
            </a:r>
          </a:p>
          <a:p>
            <a:pPr>
              <a:buNone/>
            </a:pPr>
            <a:r>
              <a:rPr lang="fr-FR" dirty="0">
                <a:effectLst/>
              </a:rPr>
              <a:t>D- </a:t>
            </a:r>
            <a:r>
              <a:rPr lang="fr-FR" dirty="0">
                <a:solidFill>
                  <a:schemeClr val="tx1"/>
                </a:solidFill>
              </a:rPr>
              <a:t>La répartition des activités et prestations de soins dans les infrastructures</a:t>
            </a: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Q63- Le plan d’action 2012-2016 pour accélérer la réduction de la mortalité maternelle et néonatale se fixe pour objectifs d’ici 2016 de 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132856"/>
            <a:ext cx="8280920" cy="417646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A- Réduire la mortalité maternelle de 112 à 50 décès pour 100000 naissances vivantes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B- </a:t>
            </a:r>
            <a:r>
              <a:rPr lang="fr-FR" b="1" dirty="0">
                <a:solidFill>
                  <a:srgbClr val="FF0000"/>
                </a:solidFill>
              </a:rPr>
              <a:t>Réduire la mortalité néonatale de 19 à 12 pour 1000 naissances vivantes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Réduire la mortalité maternelle de 112 à 40 décès pour 100000 naissances vivantes</a:t>
            </a:r>
          </a:p>
          <a:p>
            <a:pPr>
              <a:buNone/>
            </a:pPr>
            <a:r>
              <a:rPr lang="fr-FR" dirty="0">
                <a:effectLst/>
              </a:rPr>
              <a:t>D- </a:t>
            </a:r>
            <a:r>
              <a:rPr lang="fr-FR" dirty="0">
                <a:solidFill>
                  <a:schemeClr val="tx1"/>
                </a:solidFill>
              </a:rPr>
              <a:t>Réduire la mortalité néonatale de 19 à 10pour 1000 naissances vivantes</a:t>
            </a: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3600" b="1" dirty="0">
                <a:solidFill>
                  <a:schemeClr val="bg1"/>
                </a:solidFill>
              </a:rPr>
              <a:t>Q64 - Le projet d’établissement hospitalier</a:t>
            </a:r>
            <a:r>
              <a:rPr lang="fr-FR" sz="3600" b="1" dirty="0">
                <a:effectLst/>
              </a:rPr>
              <a:t>:</a:t>
            </a:r>
            <a:endParaRPr lang="fr-FR" sz="36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132856"/>
            <a:ext cx="8280920" cy="417646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A- Est un outil de planification stratégique et de communication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B- </a:t>
            </a:r>
            <a:r>
              <a:rPr lang="fr-FR" b="1" dirty="0">
                <a:solidFill>
                  <a:srgbClr val="FF0000"/>
                </a:solidFill>
              </a:rPr>
              <a:t>Facilite le développement d’une vision et l’engagement des professionnels et des gestionnaires autour d’objectifs communs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Couvre une période de 2 à 3 ans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D- </a:t>
            </a:r>
            <a:r>
              <a:rPr lang="fr-FR" b="1" dirty="0">
                <a:solidFill>
                  <a:srgbClr val="FF0000"/>
                </a:solidFill>
              </a:rPr>
              <a:t>Est un moyen pour orienter les soins vers la population</a:t>
            </a:r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3600" b="1" dirty="0">
                <a:solidFill>
                  <a:schemeClr val="bg1"/>
                </a:solidFill>
              </a:rPr>
              <a:t>Q65 - Le diagnostic hospitalier peut reposer sur trois types d’analyse</a:t>
            </a:r>
            <a:r>
              <a:rPr lang="fr-FR" sz="3600" b="1" dirty="0">
                <a:effectLst/>
              </a:rPr>
              <a:t>:</a:t>
            </a:r>
            <a:endParaRPr lang="fr-FR" sz="36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132856"/>
            <a:ext cx="8280920" cy="417646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A- Une analyse de morbidité hospitalière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B- </a:t>
            </a:r>
            <a:r>
              <a:rPr lang="fr-FR" b="1" dirty="0">
                <a:solidFill>
                  <a:srgbClr val="FF0000"/>
                </a:solidFill>
              </a:rPr>
              <a:t>Une analyse de la performance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Une analyse opérationnelle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D- </a:t>
            </a:r>
            <a:r>
              <a:rPr lang="fr-FR" b="1" dirty="0">
                <a:solidFill>
                  <a:srgbClr val="FF0000"/>
                </a:solidFill>
              </a:rPr>
              <a:t>Une analyse stratégique</a:t>
            </a:r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3600" b="1" dirty="0">
                <a:solidFill>
                  <a:schemeClr val="bg1"/>
                </a:solidFill>
              </a:rPr>
              <a:t>Q66 - La formulation du projet d’établissement repose sur deux logiques</a:t>
            </a:r>
            <a:r>
              <a:rPr lang="fr-FR" sz="3600" b="1" dirty="0">
                <a:effectLst/>
              </a:rPr>
              <a:t>:</a:t>
            </a:r>
            <a:endParaRPr lang="fr-FR" sz="36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132856"/>
            <a:ext cx="8280920" cy="417646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A- Une logique professionnelle ? (Je ne suis pas sur à 100%)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B- </a:t>
            </a:r>
            <a:r>
              <a:rPr lang="fr-FR" dirty="0">
                <a:solidFill>
                  <a:schemeClr val="tx1"/>
                </a:solidFill>
              </a:rPr>
              <a:t>Une logique fonctionnelle 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Une logique de qualité 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D- </a:t>
            </a:r>
            <a:r>
              <a:rPr lang="fr-FR" b="1" dirty="0">
                <a:solidFill>
                  <a:srgbClr val="FF0000"/>
                </a:solidFill>
              </a:rPr>
              <a:t>Une logique de projet</a:t>
            </a:r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Q67 – Laquelle des propositions suivantes n’est pas une dimension de la qualité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132856"/>
            <a:ext cx="8280920" cy="4176464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A- L’efficacité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B- </a:t>
            </a:r>
            <a:r>
              <a:rPr lang="fr-FR" b="1" dirty="0">
                <a:solidFill>
                  <a:srgbClr val="FF0000"/>
                </a:solidFill>
              </a:rPr>
              <a:t>La globalité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L’efficience</a:t>
            </a:r>
          </a:p>
          <a:p>
            <a:pPr>
              <a:buNone/>
            </a:pPr>
            <a:r>
              <a:rPr lang="fr-FR" dirty="0">
                <a:effectLst/>
              </a:rPr>
              <a:t>D- </a:t>
            </a:r>
            <a:r>
              <a:rPr lang="fr-FR" dirty="0">
                <a:solidFill>
                  <a:schemeClr val="tx1"/>
                </a:solidFill>
              </a:rPr>
              <a:t>La continuité</a:t>
            </a: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5098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3200" b="1" dirty="0">
                <a:solidFill>
                  <a:schemeClr val="bg1"/>
                </a:solidFill>
              </a:rPr>
              <a:t>Q68 – Le comité de gestion d’un centre hospitalier régional est présidé par 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844824"/>
            <a:ext cx="8280920" cy="4464496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A- Le délégué du Ministère de la Santé de la province ou préfecture chef lieu de la région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B- </a:t>
            </a:r>
            <a:r>
              <a:rPr lang="fr-FR" dirty="0">
                <a:solidFill>
                  <a:schemeClr val="tx1"/>
                </a:solidFill>
              </a:rPr>
              <a:t>Le directeur régional de la santé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Le directeur du centre hospitalier de la province ou préfecture chef lieu de la région</a:t>
            </a:r>
          </a:p>
          <a:p>
            <a:pPr>
              <a:buNone/>
            </a:pPr>
            <a:r>
              <a:rPr lang="fr-FR" dirty="0">
                <a:effectLst/>
              </a:rPr>
              <a:t>D- </a:t>
            </a:r>
            <a:r>
              <a:rPr lang="fr-FR" dirty="0">
                <a:solidFill>
                  <a:schemeClr val="tx1"/>
                </a:solidFill>
              </a:rPr>
              <a:t>Un délégué à tour de rôle parmi les délégués des provinces ou préfectures de la région</a:t>
            </a: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5098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Q69 – L’admission ordinaire dans un hôpital public peut se faire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844824"/>
            <a:ext cx="8280920" cy="4464496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A- Seulement pendant les jours et heures ouvrables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B- </a:t>
            </a:r>
            <a:r>
              <a:rPr lang="fr-FR" dirty="0">
                <a:solidFill>
                  <a:schemeClr val="tx1"/>
                </a:solidFill>
              </a:rPr>
              <a:t>Pendant toutes les heures des jours ouvrables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Pendant tous les jours de la semaine</a:t>
            </a:r>
          </a:p>
          <a:p>
            <a:pPr>
              <a:buNone/>
            </a:pPr>
            <a:r>
              <a:rPr lang="fr-FR" dirty="0">
                <a:effectLst/>
              </a:rPr>
              <a:t>D- </a:t>
            </a:r>
            <a:r>
              <a:rPr lang="fr-FR" dirty="0">
                <a:solidFill>
                  <a:schemeClr val="tx1"/>
                </a:solidFill>
              </a:rPr>
              <a:t>Aucune réponse n’est juste</a:t>
            </a:r>
          </a:p>
          <a:p>
            <a:pPr>
              <a:buNone/>
            </a:pPr>
            <a:endParaRPr lang="fr-FR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Réf. RIH ART38</a:t>
            </a: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71102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>
              <a:defRPr/>
            </a:pPr>
            <a:r>
              <a:rPr lang="fr-FR" sz="3200" b="1" dirty="0">
                <a:solidFill>
                  <a:schemeClr val="bg1"/>
                </a:solidFill>
              </a:rPr>
              <a:t>Q70 – Parmi les critères de priorisation d’un problème, lequel parmi les suivants n’est pas juste</a:t>
            </a:r>
            <a:r>
              <a:rPr lang="fr-FR" sz="3200" b="1" dirty="0">
                <a:effectLst/>
              </a:rPr>
              <a:t>:</a:t>
            </a:r>
            <a:endParaRPr lang="fr-FR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276872"/>
            <a:ext cx="8280920" cy="4032448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4000" dirty="0">
                <a:solidFill>
                  <a:schemeClr val="tx1"/>
                </a:solidFill>
              </a:rPr>
              <a:t>A- Fréquence</a:t>
            </a:r>
          </a:p>
          <a:p>
            <a:pPr>
              <a:buNone/>
            </a:pPr>
            <a:r>
              <a:rPr lang="fr-FR" sz="4000" dirty="0">
                <a:solidFill>
                  <a:schemeClr val="tx1"/>
                </a:solidFill>
                <a:effectLst/>
              </a:rPr>
              <a:t>B- </a:t>
            </a:r>
            <a:r>
              <a:rPr lang="fr-FR" sz="4000" dirty="0">
                <a:solidFill>
                  <a:schemeClr val="tx1"/>
                </a:solidFill>
              </a:rPr>
              <a:t>Gravité</a:t>
            </a:r>
            <a:endParaRPr lang="fr-FR" sz="40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4000" b="1" dirty="0">
                <a:solidFill>
                  <a:srgbClr val="FF0000"/>
                </a:solidFill>
              </a:rPr>
              <a:t>C- Acceptabilité</a:t>
            </a:r>
          </a:p>
          <a:p>
            <a:pPr>
              <a:buNone/>
            </a:pPr>
            <a:r>
              <a:rPr lang="fr-FR" sz="4000" dirty="0">
                <a:effectLst/>
              </a:rPr>
              <a:t>D- </a:t>
            </a:r>
            <a:r>
              <a:rPr lang="fr-FR" sz="4000" dirty="0">
                <a:solidFill>
                  <a:schemeClr val="tx1"/>
                </a:solidFill>
              </a:rPr>
              <a:t>Vulnérabilité</a:t>
            </a:r>
          </a:p>
        </p:txBody>
      </p:sp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5098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Q71 – Une augmentation significative et inhabituelle de la fréquence d’une maladie dans le temps et dans l’espace est une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844824"/>
            <a:ext cx="8280920" cy="4464496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A- Endémie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B- </a:t>
            </a:r>
            <a:r>
              <a:rPr lang="fr-FR" dirty="0">
                <a:solidFill>
                  <a:schemeClr val="tx1"/>
                </a:solidFill>
              </a:rPr>
              <a:t>Pandémie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C- Epidémie</a:t>
            </a:r>
          </a:p>
          <a:p>
            <a:pPr>
              <a:buNone/>
            </a:pPr>
            <a:r>
              <a:rPr lang="fr-FR" dirty="0">
                <a:effectLst/>
              </a:rPr>
              <a:t>D- </a:t>
            </a:r>
            <a:r>
              <a:rPr lang="fr-FR" dirty="0">
                <a:solidFill>
                  <a:schemeClr val="tx1"/>
                </a:solidFill>
              </a:rPr>
              <a:t>Aucune réponse n’est juste</a:t>
            </a: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5098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Q72 – Les éléments constitutifs d’un plan d’action pour la mise en œuvre des activités sanitaires sont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844824"/>
            <a:ext cx="8280920" cy="4464496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A- Les objectifs, les stratégies, les ressources et les indicateurs d’évaluation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B- </a:t>
            </a:r>
            <a:r>
              <a:rPr lang="fr-FR" dirty="0">
                <a:solidFill>
                  <a:schemeClr val="tx1"/>
                </a:solidFill>
              </a:rPr>
              <a:t>les besoins , les ressources, et les indicateurs d’évaluation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C- La vision , la stratégie, les ressources et les modalités d’évaluation</a:t>
            </a:r>
          </a:p>
          <a:p>
            <a:pPr>
              <a:buNone/>
            </a:pPr>
            <a:r>
              <a:rPr lang="fr-FR" dirty="0">
                <a:effectLst/>
              </a:rPr>
              <a:t>D- </a:t>
            </a:r>
            <a:r>
              <a:rPr lang="fr-FR" dirty="0">
                <a:solidFill>
                  <a:schemeClr val="tx1"/>
                </a:solidFill>
              </a:rPr>
              <a:t>les stratégies, les ressources et les modalités d’évaluation</a:t>
            </a: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5098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Q73 – Parmi les services suivants, lequel est un service de la direction régionale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844824"/>
            <a:ext cx="8280920" cy="4464496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A- Le service de la santé publique et de l’offre de soins 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B- </a:t>
            </a:r>
            <a:r>
              <a:rPr lang="fr-FR" dirty="0">
                <a:solidFill>
                  <a:schemeClr val="tx1"/>
                </a:solidFill>
              </a:rPr>
              <a:t>Le service de la programmation de l’offre de soins et des ressources humaines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Le service de la programmation de l’offre de soins et des ressources financières</a:t>
            </a:r>
          </a:p>
          <a:p>
            <a:pPr>
              <a:buNone/>
            </a:pPr>
            <a:r>
              <a:rPr lang="fr-FR" dirty="0">
                <a:effectLst/>
              </a:rPr>
              <a:t>D- </a:t>
            </a:r>
            <a:r>
              <a:rPr lang="fr-FR" dirty="0">
                <a:solidFill>
                  <a:schemeClr val="tx1"/>
                </a:solidFill>
              </a:rPr>
              <a:t>Le service des ressources humaines et de l’approvisionnement</a:t>
            </a: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5098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Q74 – La couverture sanitaire universelle consiste à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844824"/>
            <a:ext cx="8280920" cy="4464496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A- Etendre l’offre et l’accès aux soins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B- </a:t>
            </a:r>
            <a:r>
              <a:rPr lang="fr-FR" b="1" dirty="0">
                <a:solidFill>
                  <a:srgbClr val="FF0000"/>
                </a:solidFill>
              </a:rPr>
              <a:t>Améliorer la qualité et la gamme des soins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C- Réduire les paiements directes</a:t>
            </a:r>
          </a:p>
          <a:p>
            <a:pPr>
              <a:buNone/>
            </a:pPr>
            <a:r>
              <a:rPr lang="fr-FR" dirty="0">
                <a:effectLst/>
              </a:rPr>
              <a:t>D- </a:t>
            </a:r>
            <a:r>
              <a:rPr lang="fr-FR" dirty="0">
                <a:solidFill>
                  <a:schemeClr val="tx1"/>
                </a:solidFill>
              </a:rPr>
              <a:t>Augmenter les ressources</a:t>
            </a: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5098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Q75 – L’objectif de l’économie de santé est de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844824"/>
            <a:ext cx="8280920" cy="4464496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A- Faire des économie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B- </a:t>
            </a:r>
            <a:r>
              <a:rPr lang="fr-FR" dirty="0">
                <a:solidFill>
                  <a:schemeClr val="tx1"/>
                </a:solidFill>
              </a:rPr>
              <a:t>Diminuer les dépenses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Contrôler les agents économiques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D- </a:t>
            </a:r>
            <a:r>
              <a:rPr lang="fr-FR" b="1" dirty="0">
                <a:solidFill>
                  <a:srgbClr val="FF0000"/>
                </a:solidFill>
              </a:rPr>
              <a:t>Rechercher la meilleure utilisation des ressources</a:t>
            </a:r>
          </a:p>
        </p:txBody>
      </p:sp>
    </p:spTree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5098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Q76 – Selon le modèle PATHWAY de l’OMS (2011), les déterminants intermédiaires de la santé sont 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844824"/>
            <a:ext cx="8280920" cy="4464496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A- Les facteurs humains, biologiques, psychologiques et matériels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B- </a:t>
            </a:r>
            <a:r>
              <a:rPr lang="fr-FR" dirty="0">
                <a:solidFill>
                  <a:schemeClr val="tx1"/>
                </a:solidFill>
              </a:rPr>
              <a:t>Le système de santé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L’éducation, l’emploi et le revenu</a:t>
            </a:r>
          </a:p>
          <a:p>
            <a:pPr>
              <a:buNone/>
            </a:pPr>
            <a:r>
              <a:rPr lang="fr-FR" dirty="0">
                <a:effectLst/>
              </a:rPr>
              <a:t>D- </a:t>
            </a:r>
            <a:r>
              <a:rPr lang="fr-FR" dirty="0">
                <a:solidFill>
                  <a:schemeClr val="tx1"/>
                </a:solidFill>
              </a:rPr>
              <a:t>La gouvernance et politiques sociales</a:t>
            </a:r>
            <a:endParaRPr lang="fr-FR" dirty="0"/>
          </a:p>
        </p:txBody>
      </p:sp>
    </p:spTree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5098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Q77 – L’enquête nationale de prévalence des troubles mentaux et toxicomanies a montré que la prévalence des troubles dépressifs est de   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844824"/>
            <a:ext cx="8280920" cy="4464496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</a:rPr>
              <a:t>A- 26,5%</a:t>
            </a: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  <a:effectLst/>
              </a:rPr>
              <a:t>B- </a:t>
            </a:r>
            <a:r>
              <a:rPr lang="fr-FR" sz="3600" dirty="0">
                <a:solidFill>
                  <a:schemeClr val="tx1"/>
                </a:solidFill>
              </a:rPr>
              <a:t>9,6%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C- 2%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45,2%</a:t>
            </a:r>
            <a:endParaRPr lang="fr-FR" sz="3600" dirty="0"/>
          </a:p>
        </p:txBody>
      </p:sp>
    </p:spTree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5098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Q78 – LES OBJECTIFS DU PLAN NATIONAL DE SANTE MENTALE (2013-2016) sont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844824"/>
            <a:ext cx="8280920" cy="4464496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A- Promouvoir la santé mentale et prévenir les troubles mentaux.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  <a:effectLst/>
              </a:rPr>
              <a:t>B- </a:t>
            </a:r>
            <a:r>
              <a:rPr lang="fr-FR" dirty="0">
                <a:solidFill>
                  <a:schemeClr val="tx1"/>
                </a:solidFill>
              </a:rPr>
              <a:t>Assurer une prise en charge équitable, de qualité au profit des personnes avec troubles mentaux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Améliorer la gouvernance en santé mentale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D- </a:t>
            </a:r>
            <a:r>
              <a:rPr lang="fr-FR" b="1" dirty="0">
                <a:solidFill>
                  <a:srgbClr val="FF0000"/>
                </a:solidFill>
              </a:rPr>
              <a:t>Développer le partenariat</a:t>
            </a:r>
          </a:p>
        </p:txBody>
      </p:sp>
    </p:spTree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5098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2800" b="1" dirty="0">
                <a:solidFill>
                  <a:schemeClr val="bg1"/>
                </a:solidFill>
              </a:rPr>
              <a:t>Q79 – LES Maladies à notification obligatoire en vertu du règlement sanitaire international 2005 sont</a:t>
            </a:r>
            <a:r>
              <a:rPr lang="fr-FR" sz="2800" b="1" dirty="0">
                <a:effectLst/>
              </a:rPr>
              <a:t>:</a:t>
            </a:r>
            <a:endParaRPr lang="fr-FR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844824"/>
            <a:ext cx="8280920" cy="4464496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A- La fièvre jaune.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B- </a:t>
            </a:r>
            <a:r>
              <a:rPr lang="fr-FR" b="1" dirty="0">
                <a:solidFill>
                  <a:srgbClr val="FF0000"/>
                </a:solidFill>
              </a:rPr>
              <a:t>La polio à virus sauvage</a:t>
            </a:r>
            <a:endParaRPr lang="fr-FR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C- La méningite</a:t>
            </a:r>
          </a:p>
          <a:p>
            <a:pPr>
              <a:buNone/>
            </a:pPr>
            <a:r>
              <a:rPr lang="fr-FR" b="1" dirty="0">
                <a:solidFill>
                  <a:srgbClr val="FF0000"/>
                </a:solidFill>
                <a:effectLst/>
              </a:rPr>
              <a:t>D- </a:t>
            </a:r>
            <a:r>
              <a:rPr lang="fr-FR" b="1" dirty="0">
                <a:solidFill>
                  <a:srgbClr val="FF0000"/>
                </a:solidFill>
              </a:rPr>
              <a:t>La variole</a:t>
            </a:r>
          </a:p>
        </p:txBody>
      </p:sp>
    </p:spTree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350987"/>
          </a:xfr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fr-FR" sz="4000" b="1" dirty="0">
                <a:solidFill>
                  <a:schemeClr val="bg1"/>
                </a:solidFill>
              </a:rPr>
              <a:t>Q80 – La certification est une attestation</a:t>
            </a:r>
            <a:r>
              <a:rPr lang="fr-FR" sz="4000" b="1" dirty="0">
                <a:effectLst/>
              </a:rPr>
              <a:t>:</a:t>
            </a:r>
            <a:endParaRPr lang="fr-FR" sz="40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844824"/>
            <a:ext cx="8280920" cy="4464496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3600" b="1" dirty="0">
                <a:solidFill>
                  <a:srgbClr val="FF0000"/>
                </a:solidFill>
              </a:rPr>
              <a:t>A- de conformité aux exigences spécifiques</a:t>
            </a: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  <a:effectLst/>
              </a:rPr>
              <a:t>B- </a:t>
            </a:r>
            <a:r>
              <a:rPr lang="fr-FR" sz="3600" dirty="0">
                <a:solidFill>
                  <a:schemeClr val="tx1"/>
                </a:solidFill>
              </a:rPr>
              <a:t>de reconnaissance de compétences</a:t>
            </a:r>
            <a:endParaRPr lang="fr-FR" sz="3600" b="1" dirty="0">
              <a:solidFill>
                <a:srgbClr val="FF0000"/>
              </a:solidFill>
              <a:effectLst/>
            </a:endParaRPr>
          </a:p>
          <a:p>
            <a:pPr>
              <a:buNone/>
            </a:pPr>
            <a:r>
              <a:rPr lang="fr-FR" sz="3600" dirty="0">
                <a:solidFill>
                  <a:schemeClr val="tx1"/>
                </a:solidFill>
              </a:rPr>
              <a:t>C- d’accréditation</a:t>
            </a:r>
          </a:p>
          <a:p>
            <a:pPr>
              <a:buNone/>
            </a:pPr>
            <a:r>
              <a:rPr lang="fr-FR" sz="3600" dirty="0">
                <a:effectLst/>
              </a:rPr>
              <a:t>D- </a:t>
            </a:r>
            <a:r>
              <a:rPr lang="fr-FR" sz="3600" dirty="0">
                <a:solidFill>
                  <a:schemeClr val="tx1"/>
                </a:solidFill>
              </a:rPr>
              <a:t>Aucune des propositions n’est vrai</a:t>
            </a:r>
            <a:endParaRPr lang="fr-FR" sz="3600" dirty="0"/>
          </a:p>
        </p:txBody>
      </p:sp>
    </p:spTree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INA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3810</TotalTime>
  <Words>3968</Words>
  <Application>Microsoft Office PowerPoint</Application>
  <PresentationFormat>Affichage à l'écran (4:3)</PresentationFormat>
  <Paragraphs>412</Paragraphs>
  <Slides>82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82</vt:i4>
      </vt:variant>
    </vt:vector>
  </HeadingPairs>
  <TitlesOfParts>
    <vt:vector size="87" baseType="lpstr">
      <vt:lpstr>Algerian</vt:lpstr>
      <vt:lpstr>Arial</vt:lpstr>
      <vt:lpstr>Calibri</vt:lpstr>
      <vt:lpstr>Wingdings</vt:lpstr>
      <vt:lpstr>Thème Office</vt:lpstr>
      <vt:lpstr>  QCM   Examen d’aptitude professionnelle pour l’accès au grade d’ide gp (échelle 11)   </vt:lpstr>
      <vt:lpstr>Q1- Les temps de la planification stratégique sont: </vt:lpstr>
      <vt:lpstr>Q2- Lequel des outils suivants ne fait pas partie des outils principaux de la planification stratégique?</vt:lpstr>
      <vt:lpstr>Q3- le projet d’établissement hospitalier comprend entre outres les projets suivants?</vt:lpstr>
      <vt:lpstr>Q4- lequel des pôles suivants ne fait pas partie des pôles de gestion d’un centre hospitalier?</vt:lpstr>
      <vt:lpstr>Q5- les hôpitaux généraux de 120 à 240 lits sont organisés:</vt:lpstr>
      <vt:lpstr>Q6- En milieu urbain, les critères d’éligibilité du postulant au régime d’assistance médicale (RAMED) sont définis comme suit:</vt:lpstr>
      <vt:lpstr>Q7- la carte sanitaire est un outil législatif de:</vt:lpstr>
      <vt:lpstr>Q8- les bénéficiaires des prestations du régime d’assistance médicale (RAMED) sont:</vt:lpstr>
      <vt:lpstr>Q9- Sont admis de droit au bénéfice de l’assistance médicale (RAMED) :</vt:lpstr>
      <vt:lpstr>Q10- le régime d’assistance médicale couvre les prestations médicalement requises suivantes :</vt:lpstr>
      <vt:lpstr>Q11- En 2010, la part des soins ambulatoires dans la dépense du système national de santé est classée:</vt:lpstr>
      <vt:lpstr>Q12- En 2010, le ministère de la santé , qui constitue le premier prestataire de soins, est classé comme :</vt:lpstr>
      <vt:lpstr>Q13- La moitié des dépenses des ménages par prestataire pour l’année 2010 est effectuée auprès :</vt:lpstr>
      <vt:lpstr>Q14- La source principale de financement des activités du ministère de la santé est représentée par :</vt:lpstr>
      <vt:lpstr>Q15- La part la plus importante (47%) des dépenses du ministère de la santé en 2010 est allouée  :</vt:lpstr>
      <vt:lpstr>Q16- La couverture médicale du personnel du secteur public est assurée essentiellement par des sociétés mutualistes , fédérées au sein de la CNOPS et qui sont au nombre de :</vt:lpstr>
      <vt:lpstr>Q17- Depuis l’entrée en vigueur de la loi 65-00 portant code de la couverture médicale de base le 18 Aout 2005:</vt:lpstr>
      <vt:lpstr>Q18- Les fonctions de soins médico- hospitalières complètes sont au nombre de:</vt:lpstr>
      <vt:lpstr>Q19- La filière de soins est une organisation:</vt:lpstr>
      <vt:lpstr>Q20- L’évaluation quantitative des soins utilise les indicateurs suivants:</vt:lpstr>
      <vt:lpstr>Q21- L’analyse du cout ou de minimisation du cout tend à déterminer:</vt:lpstr>
      <vt:lpstr>Q22- L’évaluation qualitative est une analyse de la qualité d’un acte de soins:</vt:lpstr>
      <vt:lpstr>Q23- L’évaluation de la qualité des soins englobe:</vt:lpstr>
      <vt:lpstr>Q24- En milieu rural, les critères d’éligibilité du postulant au régime d’assistance médicale sont définis comme suit :</vt:lpstr>
      <vt:lpstr>Q25- Dans la déclaration du millénaire pour le développement:</vt:lpstr>
      <vt:lpstr>Q26- Le réseau coordonné des soins est une organisation:</vt:lpstr>
      <vt:lpstr>Q27- Dans le programme du gouvernement 2012-2016, le secteur de la santé se trouve interpelé de façon directe à travers l’axe réservé à :</vt:lpstr>
      <vt:lpstr>Q28- La formulation stratégique du plan sectoriel de la santé pour la période 2012-2016 repose sur la ou les approches complémentaires suivantes :</vt:lpstr>
      <vt:lpstr>Q29- Le plan de réorganisation et de développement des urgences médicales au Maroc comporte:</vt:lpstr>
      <vt:lpstr>Q30- Selon le rapport de santé en chiffres 2014, l’indice synthétique de fécondité au Maroc est de :</vt:lpstr>
      <vt:lpstr>Q31- Dans le cadre de la carte sanitaire et du schéma régional de l’offre de soins, la création et l’implantation des infrastructures relevant du réseau de soins de santé primaire , en milieu urbain, doit répondre  aux besoins de la population selon les critères suivants:</vt:lpstr>
      <vt:lpstr>Q32- La 1ére cause de mortalité au Maroc est représentée par  :</vt:lpstr>
      <vt:lpstr>Q33- Selon la stratégie sectorielle de santé 2012-2016 , le développement de la santé en milieu rural repose sur les actions suivantes :</vt:lpstr>
      <vt:lpstr>Q34- Le réseau intégré des soins d’urgences médicales (RISUM) est organisé :</vt:lpstr>
      <vt:lpstr>Q35- Selon le rapport de santé en chiffres 2014, l’espérance de vie à la naissance au Maroc :</vt:lpstr>
      <vt:lpstr>Q36- En souscrivant aux Objectifs du Millénaire pour le Développement, le Maroc s’est engagé à réduire , à l’horizon 2015:</vt:lpstr>
      <vt:lpstr>Q37- La consommation moyenne mensuelle est une méthode d’estimation des besoins en:</vt:lpstr>
      <vt:lpstr>Q38- Lequel des axes stratégiques suivants ne fait pas partie de la stratégie sectorielle de santé 2012-2016:</vt:lpstr>
      <vt:lpstr>Q39- Les urgences médico-hospitalières de base représentent:</vt:lpstr>
      <vt:lpstr>Q40- Selon le rapport de santé en chiffres 2014, le taux d’occupation moyen des hôpitaux publics est de :</vt:lpstr>
      <vt:lpstr>Q41- Selon la stratégie sectorielle de santé 2012-2016 :</vt:lpstr>
      <vt:lpstr>Q42- Les résultats attendus du plan national de prévention et du contrôle du cancer dans le domaine de prévention est de :</vt:lpstr>
      <vt:lpstr>Q43- Dans le découpage sanitaire national, les territoires de santé sont:</vt:lpstr>
      <vt:lpstr>Q44- Pour les bénéficiaires du RAMED, la contribution concerne:</vt:lpstr>
      <vt:lpstr>Q45- Lequel/lesquels  des établissements suivants ne fait/ne font pas partie du réseau hospitalier:</vt:lpstr>
      <vt:lpstr>Q46- L’offre de soins en mode fixe dans le secteur public est composée de :</vt:lpstr>
      <vt:lpstr>Q47- Selon le rapport santé en chiffres 2014, la couverture vaccinale globale des enfants âgés de 12 à 23 mois est de:</vt:lpstr>
      <vt:lpstr>Q48- Les urgences médicales de proximité faisant partie du réseau intégré des soins d’urgences médicales assurent les fonctions d’urgence suivantes:</vt:lpstr>
      <vt:lpstr>Q49- Selon le rapport santé en chiffres 2014, la durée moyenne des hôpitaux publics est de:</vt:lpstr>
      <vt:lpstr>Q50- Les résultats attendus du plan national de prévention et de contrôle du cancer dans le domaine de prise en charge diagnostique et thérapeutique est de:</vt:lpstr>
      <vt:lpstr>Q51- En 2013, le budget global du Ministère de la Santé représente :</vt:lpstr>
      <vt:lpstr>Q52- En 2010, les dépenses globales de santé ont atteint:</vt:lpstr>
      <vt:lpstr>Q53- Selon les comptes nationaux  2010, les paiements directs des ménages ont représenté:</vt:lpstr>
      <vt:lpstr>Q54- Les maladies non transmissibles représentent :</vt:lpstr>
      <vt:lpstr>Q55- La stratégie du plan national de prévention et de contrôle de cancer repose sur les domaines suivants:</vt:lpstr>
      <vt:lpstr>Q56- Le financement du régime d’assistance médicale (RAMed) est assurée par:</vt:lpstr>
      <vt:lpstr>Q57- Le régime d’assistance médicale (RAMed) cible la couverture de:</vt:lpstr>
      <vt:lpstr>Q58- Le Schéma Régional de l’Offre de Soins(SROS) :</vt:lpstr>
      <vt:lpstr>Q59- L’élaboration du Schéma Régional de l’Offre de Soins repose sur les principes suivants :</vt:lpstr>
      <vt:lpstr>Q60- Le processus théorique d’élaboration du Schéma Régional de l’Offre de Soins peut être résumé en trois étapes essentielles, qui sont:</vt:lpstr>
      <vt:lpstr>Q61- Le plan stratégique régional est un document d’orientation des actions sanitaires de la région, il comprend:</vt:lpstr>
      <vt:lpstr>Q62- Le plan régional de couverture sanitaire a pour objectif de déterminer:</vt:lpstr>
      <vt:lpstr>Q63- Le plan d’action 2012-2016 pour accélérer la réduction de la mortalité maternelle et néonatale se fixe pour objectifs d’ici 2016 de :</vt:lpstr>
      <vt:lpstr>Q64 - Le projet d’établissement hospitalier:</vt:lpstr>
      <vt:lpstr>Q65 - Le diagnostic hospitalier peut reposer sur trois types d’analyse:</vt:lpstr>
      <vt:lpstr>Q66 - La formulation du projet d’établissement repose sur deux logiques:</vt:lpstr>
      <vt:lpstr>Q67 – Laquelle des propositions suivantes n’est pas une dimension de la qualité:</vt:lpstr>
      <vt:lpstr>Q68 – Le comité de gestion d’un centre hospitalier régional est présidé par :</vt:lpstr>
      <vt:lpstr>Q69 – L’admission ordinaire dans un hôpital public peut se faire:</vt:lpstr>
      <vt:lpstr>Q70 – Parmi les critères de priorisation d’un problème, lequel parmi les suivants n’est pas juste:</vt:lpstr>
      <vt:lpstr>Q71 – Une augmentation significative et inhabituelle de la fréquence d’une maladie dans le temps et dans l’espace est une:</vt:lpstr>
      <vt:lpstr>Q72 – Les éléments constitutifs d’un plan d’action pour la mise en œuvre des activités sanitaires sont:</vt:lpstr>
      <vt:lpstr>Q73 – Parmi les services suivants, lequel est un service de la direction régionale:</vt:lpstr>
      <vt:lpstr>Q74 – La couverture sanitaire universelle consiste à:</vt:lpstr>
      <vt:lpstr>Q75 – L’objectif de l’économie de santé est de:</vt:lpstr>
      <vt:lpstr>Q76 – Selon le modèle PATHWAY de l’OMS (2011), les déterminants intermédiaires de la santé sont :</vt:lpstr>
      <vt:lpstr>Q77 – L’enquête nationale de prévalence des troubles mentaux et toxicomanies a montré que la prévalence des troubles dépressifs est de   :</vt:lpstr>
      <vt:lpstr>Q78 – LES OBJECTIFS DU PLAN NATIONAL DE SANTE MENTALE (2013-2016) sont:</vt:lpstr>
      <vt:lpstr>Q79 – LES Maladies à notification obligatoire en vertu du règlement sanitaire international 2005 sont:</vt:lpstr>
      <vt:lpstr>Q80 – La certification est une attestation: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QCM 3 Unité DE SOINS</dc:title>
  <dc:creator>LINA</dc:creator>
  <cp:lastModifiedBy>Jaouad</cp:lastModifiedBy>
  <cp:revision>129</cp:revision>
  <dcterms:created xsi:type="dcterms:W3CDTF">2015-10-07T13:49:24Z</dcterms:created>
  <dcterms:modified xsi:type="dcterms:W3CDTF">2019-12-26T13:28:59Z</dcterms:modified>
</cp:coreProperties>
</file>